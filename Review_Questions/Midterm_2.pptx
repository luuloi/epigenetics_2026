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4813" r:id="rId5"/>
    <p:sldId id="275" r:id="rId6"/>
    <p:sldId id="4810" r:id="rId7"/>
    <p:sldId id="4811" r:id="rId8"/>
    <p:sldId id="4799" r:id="rId9"/>
    <p:sldId id="4812" r:id="rId10"/>
    <p:sldId id="263" r:id="rId11"/>
    <p:sldId id="274" r:id="rId12"/>
    <p:sldId id="4837" r:id="rId13"/>
    <p:sldId id="4838" r:id="rId14"/>
    <p:sldId id="259" r:id="rId15"/>
    <p:sldId id="4783" r:id="rId16"/>
    <p:sldId id="4814" r:id="rId17"/>
    <p:sldId id="4827" r:id="rId18"/>
    <p:sldId id="4834" r:id="rId19"/>
    <p:sldId id="4839" r:id="rId20"/>
    <p:sldId id="4840" r:id="rId21"/>
    <p:sldId id="271" r:id="rId22"/>
    <p:sldId id="4823" r:id="rId23"/>
    <p:sldId id="264" r:id="rId24"/>
    <p:sldId id="273" r:id="rId25"/>
    <p:sldId id="27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varScale="1">
        <p:scale>
          <a:sx n="86" d="100"/>
          <a:sy n="86" d="100"/>
        </p:scale>
        <p:origin x="48" y="1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CBCA86-5542-4E21-9D68-1AF49F2A5CF9}" type="datetimeFigureOut">
              <a:rPr lang="en-US" smtClean="0"/>
              <a:t>5/31/2026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651713-6887-4135-82F2-F3D8768EA4AF}" type="slidenum">
              <a:rPr lang="en-US" smtClean="0"/>
              <a:t>‹#›</a:t>
            </a:fld>
            <a:endParaRPr lang="en-US"/>
          </a:p>
        </p:txBody>
      </p:sp>
    </p:spTree>
    <p:extLst>
      <p:ext uri="{BB962C8B-B14F-4D97-AF65-F5344CB8AC3E}">
        <p14:creationId xmlns:p14="http://schemas.microsoft.com/office/powerpoint/2010/main" val="2308893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12</a:t>
            </a:fld>
            <a:endParaRPr lang="en-US" dirty="0"/>
          </a:p>
        </p:txBody>
      </p:sp>
    </p:spTree>
    <p:extLst>
      <p:ext uri="{BB962C8B-B14F-4D97-AF65-F5344CB8AC3E}">
        <p14:creationId xmlns:p14="http://schemas.microsoft.com/office/powerpoint/2010/main" val="3169870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13</a:t>
            </a:fld>
            <a:endParaRPr lang="en-US" dirty="0"/>
          </a:p>
        </p:txBody>
      </p:sp>
    </p:spTree>
    <p:extLst>
      <p:ext uri="{BB962C8B-B14F-4D97-AF65-F5344CB8AC3E}">
        <p14:creationId xmlns:p14="http://schemas.microsoft.com/office/powerpoint/2010/main" val="4280893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Nuclear receptors (NRs) reside either in the </a:t>
            </a:r>
            <a:r>
              <a:rPr lang="en-GB" dirty="0" err="1"/>
              <a:t>cytoplasma</a:t>
            </a:r>
            <a:r>
              <a:rPr lang="en-GB" dirty="0"/>
              <a:t> (e.g., AR and GR) in a complex with chaperone proteins, such as HSP, or are already located in the nucleus (like most nuclear receptors), when they are activated through the binding of their specific lipophilic ligand. The ligand is either of extracellular origin and has passed the cellular membrane or is a metabolite that was synthesized inside of the cell. Cytoplasmic nuclear receptors dissociate then from their chaperones and translocate to the nucleus, where they bind to their genomic binding sites (REs) in the vicinity of their target genes. Ligand-activated nuclear receptors interact with cofactors that build a bridge to the basal transcriptional machinery with Pol II in its core. This leads then to changes in the mRNA and protein expression of these target genes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17</a:t>
            </a:fld>
            <a:endParaRPr lang="en-US" dirty="0"/>
          </a:p>
        </p:txBody>
      </p:sp>
    </p:spTree>
    <p:extLst>
      <p:ext uri="{BB962C8B-B14F-4D97-AF65-F5344CB8AC3E}">
        <p14:creationId xmlns:p14="http://schemas.microsoft.com/office/powerpoint/2010/main" val="1898658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Interaction of nuclear receptors with cofactors. A solvent excluded surface (Connolly surface) representation of a nuclear receptor LBD in the absence (top) and presence (bottom)</a:t>
            </a:r>
            <a:r>
              <a:rPr lang="en-GB" dirty="0" err="1"/>
              <a:t>ofa</a:t>
            </a:r>
            <a:r>
              <a:rPr lang="en-GB" dirty="0"/>
              <a:t> ligand a. The ligand-induced conformational change primarily affects helix 12 (red) that is the most carboxy-terminal α-helix of the LBD. In the absence of ligand helix 12 is in a position that allows a corepressor protein (represented by the receptor interaction domain of NCOR2, green) to interact with the LBD, while in the presence of ligand only the binding of a coactivator protein (receptor interaction domain of NCOA1, orange) is possible. The 3-step transactivation process of nuclear receptors is shown in context of a target gene b. In the absence of a ligand the DNA-bound dimeric nuclear receptor complex is connected via corepressor proteins with a multiprotein complex with chromatin modifying activity that leads to local condensation of chromatin and repression of the target gene (top). Following the binding of an agonistic ligand the LBD of nuclear receptors is dissociating from corepressors and associating with coactivators that connect with a multiprotein complex having chromatin </a:t>
            </a:r>
            <a:r>
              <a:rPr lang="en-GB" dirty="0" err="1"/>
              <a:t>decondensation</a:t>
            </a:r>
            <a:r>
              <a:rPr lang="en-GB" dirty="0"/>
              <a:t> activity (</a:t>
            </a:r>
            <a:r>
              <a:rPr lang="en-GB" dirty="0" err="1"/>
              <a:t>center</a:t>
            </a:r>
            <a:r>
              <a:rPr lang="en-GB" dirty="0"/>
              <a:t>). The ligand-activated nuclear receptor is changing to another type of coactivator being a subunit of the MED complex (bottom). In this way, the basal transcriptional machinery and Pol II are activated and finally mRNA transcription starts. CORO2A = coronin 2A, KIF11 = kinesin family member 11, TBL1X = </a:t>
            </a:r>
            <a:r>
              <a:rPr lang="en-GB" dirty="0" err="1"/>
              <a:t>transducin</a:t>
            </a:r>
            <a:r>
              <a:rPr lang="en-GB" dirty="0"/>
              <a:t> β-like 1 X-linked, TBL1XR1 = TBL1X receptor 1, ZBTB33 = zinc finger and BTB domain containing 33</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18</a:t>
            </a:fld>
            <a:endParaRPr lang="en-US" dirty="0"/>
          </a:p>
        </p:txBody>
      </p:sp>
    </p:spTree>
    <p:extLst>
      <p:ext uri="{BB962C8B-B14F-4D97-AF65-F5344CB8AC3E}">
        <p14:creationId xmlns:p14="http://schemas.microsoft.com/office/powerpoint/2010/main" val="224744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342871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111454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48456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D19C96-C96F-4C94-80F9-87C465F0357C}"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523679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D19C96-C96F-4C94-80F9-87C465F0357C}" type="datetimeFigureOut">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530280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641558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8964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733337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19C96-C96F-4C94-80F9-87C465F0357C}"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758768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19C96-C96F-4C94-80F9-87C465F0357C}"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199077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447071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Calibri Light" panose="020F0302020204030204" pitchFamily="34" charset="0"/>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latin typeface="Calibri Light" panose="020F0302020204030204" pitchFamily="34" charset="0"/>
              </a:rPr>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latin typeface="Calibri Light" panose="020F0302020204030204" pitchFamily="34" charset="0"/>
              </a:rPr>
              <a:t>”</a:t>
            </a:r>
          </a:p>
        </p:txBody>
      </p:sp>
    </p:spTree>
    <p:extLst>
      <p:ext uri="{BB962C8B-B14F-4D97-AF65-F5344CB8AC3E}">
        <p14:creationId xmlns:p14="http://schemas.microsoft.com/office/powerpoint/2010/main" val="2040901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908713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717665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048040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4045806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410802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latin typeface="Calibri Light" panose="020F0302020204030204" pitchFamily="34" charset="0"/>
              </a:defRPr>
            </a:lvl1pPr>
          </a:lstStyle>
          <a:p>
            <a:fld id="{ACD19C96-C96F-4C94-80F9-87C465F0357C}" type="datetimeFigureOut">
              <a:rPr lang="en-US" smtClean="0"/>
              <a:pPr/>
              <a:t>5/31/2026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latin typeface="Calibri Light" panose="020F0302020204030204" pitchFamily="34" charset="0"/>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latin typeface="Calibri Light" panose="020F0302020204030204" pitchFamily="34" charset="0"/>
              </a:defRPr>
            </a:lvl1pPr>
          </a:lstStyle>
          <a:p>
            <a:fld id="{A1EDCBAD-77BB-4B14-A17B-22C7CF747754}" type="slidenum">
              <a:rPr lang="en-US" smtClean="0"/>
              <a:pPr/>
              <a:t>‹#›</a:t>
            </a:fld>
            <a:endParaRPr lang="en-US" dirty="0"/>
          </a:p>
        </p:txBody>
      </p:sp>
    </p:spTree>
    <p:extLst>
      <p:ext uri="{BB962C8B-B14F-4D97-AF65-F5344CB8AC3E}">
        <p14:creationId xmlns:p14="http://schemas.microsoft.com/office/powerpoint/2010/main" val="390940040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Calibri Light" panose="020F03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Calibri Light" panose="020F0302020204030204" pitchFamily="34" charset="0"/>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Calibri Light" panose="020F0302020204030204" pitchFamily="34" charset="0"/>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Calibri Light" panose="020F0302020204030204" pitchFamily="34" charset="0"/>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sciencedirect.com/topics/biochemistry-genetics-and-molecular-biology/locus-control-region" TargetMode="Externa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sciencedirect.com/topics/biochemistry-genetics-and-molecular-biology/locus-control-region" TargetMode="Externa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doi.org/10.23880/OAJPR-16000143"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doi.org/10.23880/OAJPR-1600014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AED8-C12C-C6A6-667E-13AD998CB472}"/>
              </a:ext>
            </a:extLst>
          </p:cNvPr>
          <p:cNvSpPr>
            <a:spLocks noGrp="1"/>
          </p:cNvSpPr>
          <p:nvPr>
            <p:ph type="ctrTitle"/>
          </p:nvPr>
        </p:nvSpPr>
        <p:spPr>
          <a:xfrm>
            <a:off x="592975" y="1191491"/>
            <a:ext cx="10895214" cy="2769350"/>
          </a:xfrm>
        </p:spPr>
        <p:txBody>
          <a:bodyPr>
            <a:normAutofit fontScale="90000"/>
          </a:bodyPr>
          <a:lstStyle/>
          <a:p>
            <a:pPr algn="ctr"/>
            <a:r>
              <a:rPr lang="en-GB" sz="5600" b="1" dirty="0">
                <a:solidFill>
                  <a:schemeClr val="tx1"/>
                </a:solidFill>
              </a:rPr>
              <a:t>Cancer Epigenetics</a:t>
            </a:r>
            <a:br>
              <a:rPr lang="en-GB" b="1" dirty="0">
                <a:solidFill>
                  <a:schemeClr val="tx1"/>
                </a:solidFill>
              </a:rPr>
            </a:br>
            <a:r>
              <a:rPr lang="en-GB" sz="8800" b="1" dirty="0">
                <a:solidFill>
                  <a:srgbClr val="00B0F0"/>
                </a:solidFill>
              </a:rPr>
              <a:t>Oral Midterm Exam II</a:t>
            </a:r>
            <a:br>
              <a:rPr lang="en-GB" sz="8800" b="1" dirty="0">
                <a:solidFill>
                  <a:srgbClr val="00B0F0"/>
                </a:solidFill>
              </a:rPr>
            </a:br>
            <a:r>
              <a:rPr lang="en-GB" sz="5800" b="1" i="0" dirty="0">
                <a:solidFill>
                  <a:schemeClr val="tx1"/>
                </a:solidFill>
                <a:effectLst/>
              </a:rPr>
              <a:t>Module I: Fundamentals of Epigenetics</a:t>
            </a:r>
            <a:endParaRPr lang="en-US" sz="5800" b="1" dirty="0">
              <a:solidFill>
                <a:schemeClr val="tx1"/>
              </a:solidFill>
            </a:endParaRPr>
          </a:p>
        </p:txBody>
      </p:sp>
      <p:sp>
        <p:nvSpPr>
          <p:cNvPr id="3" name="Subtitle 2">
            <a:extLst>
              <a:ext uri="{FF2B5EF4-FFF2-40B4-BE49-F238E27FC236}">
                <a16:creationId xmlns:a16="http://schemas.microsoft.com/office/drawing/2014/main" id="{18EB8B34-7725-BDDD-BDAE-D3FA8BB997CF}"/>
              </a:ext>
            </a:extLst>
          </p:cNvPr>
          <p:cNvSpPr>
            <a:spLocks noGrp="1"/>
          </p:cNvSpPr>
          <p:nvPr>
            <p:ph type="subTitle" idx="1"/>
          </p:nvPr>
        </p:nvSpPr>
        <p:spPr>
          <a:xfrm>
            <a:off x="1562793" y="4700559"/>
            <a:ext cx="9144000" cy="1655762"/>
          </a:xfrm>
        </p:spPr>
        <p:txBody>
          <a:bodyPr>
            <a:normAutofit lnSpcReduction="10000"/>
          </a:bodyPr>
          <a:lstStyle/>
          <a:p>
            <a:pPr algn="ctr"/>
            <a:r>
              <a:rPr lang="en-GB" dirty="0"/>
              <a:t>may 28 2026</a:t>
            </a:r>
          </a:p>
          <a:p>
            <a:pPr algn="ctr"/>
            <a:r>
              <a:rPr lang="en-GB" dirty="0"/>
              <a:t>Phuc-Loi Luu, PhD</a:t>
            </a:r>
          </a:p>
          <a:p>
            <a:pPr algn="ctr"/>
            <a:r>
              <a:rPr lang="en-GB" dirty="0"/>
              <a:t>Email: </a:t>
            </a:r>
            <a:r>
              <a:rPr lang="en-GB" dirty="0">
                <a:hlinkClick r:id="rId2"/>
              </a:rPr>
              <a:t>luu.p.loi@googlemail.com</a:t>
            </a:r>
            <a:endParaRPr lang="en-GB" dirty="0"/>
          </a:p>
          <a:p>
            <a:pPr algn="ctr"/>
            <a:r>
              <a:rPr lang="en-GB" dirty="0" err="1"/>
              <a:t>Zalo</a:t>
            </a:r>
            <a:r>
              <a:rPr lang="en-GB" dirty="0"/>
              <a:t>: 0901802182</a:t>
            </a:r>
            <a:endParaRPr lang="en-US" dirty="0"/>
          </a:p>
        </p:txBody>
      </p:sp>
    </p:spTree>
    <p:extLst>
      <p:ext uri="{BB962C8B-B14F-4D97-AF65-F5344CB8AC3E}">
        <p14:creationId xmlns:p14="http://schemas.microsoft.com/office/powerpoint/2010/main" val="1632030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1C1AE-C038-8D8E-73B1-DCFB7F85B33A}"/>
              </a:ext>
            </a:extLst>
          </p:cNvPr>
          <p:cNvSpPr>
            <a:spLocks noGrp="1"/>
          </p:cNvSpPr>
          <p:nvPr>
            <p:ph type="title"/>
          </p:nvPr>
        </p:nvSpPr>
        <p:spPr/>
        <p:txBody>
          <a:bodyPr/>
          <a:lstStyle/>
          <a:p>
            <a:r>
              <a:rPr lang="en-GB" b="1" dirty="0"/>
              <a:t>Content</a:t>
            </a:r>
            <a:endParaRPr lang="en-US" b="1" dirty="0"/>
          </a:p>
        </p:txBody>
      </p:sp>
      <p:sp>
        <p:nvSpPr>
          <p:cNvPr id="3" name="Content Placeholder 2">
            <a:extLst>
              <a:ext uri="{FF2B5EF4-FFF2-40B4-BE49-F238E27FC236}">
                <a16:creationId xmlns:a16="http://schemas.microsoft.com/office/drawing/2014/main" id="{B370A885-BAAC-3587-39E9-B7C5D66B7556}"/>
              </a:ext>
            </a:extLst>
          </p:cNvPr>
          <p:cNvSpPr>
            <a:spLocks noGrp="1"/>
          </p:cNvSpPr>
          <p:nvPr>
            <p:ph idx="1"/>
          </p:nvPr>
        </p:nvSpPr>
        <p:spPr>
          <a:xfrm>
            <a:off x="1103312" y="1579418"/>
            <a:ext cx="8946541" cy="4668981"/>
          </a:xfrm>
        </p:spPr>
        <p:txBody>
          <a:bodyPr>
            <a:normAutofit/>
          </a:bodyPr>
          <a:lstStyle/>
          <a:p>
            <a:pPr marL="514350" indent="-514350">
              <a:buFont typeface="+mj-lt"/>
              <a:buAutoNum type="arabicPeriod"/>
            </a:pPr>
            <a:r>
              <a:rPr lang="en-GB" sz="3600" b="1" dirty="0"/>
              <a:t>Background Concepts</a:t>
            </a:r>
          </a:p>
          <a:p>
            <a:pPr marL="514350" indent="-514350">
              <a:buFont typeface="+mj-lt"/>
              <a:buAutoNum type="arabicPeriod"/>
            </a:pPr>
            <a:r>
              <a:rPr lang="en-GB" sz="3600" b="1" dirty="0"/>
              <a:t>Interpretation</a:t>
            </a:r>
            <a:endParaRPr lang="en-GB" sz="3600" dirty="0"/>
          </a:p>
          <a:p>
            <a:endParaRPr lang="en-US" sz="3600" dirty="0"/>
          </a:p>
        </p:txBody>
      </p:sp>
    </p:spTree>
    <p:extLst>
      <p:ext uri="{BB962C8B-B14F-4D97-AF65-F5344CB8AC3E}">
        <p14:creationId xmlns:p14="http://schemas.microsoft.com/office/powerpoint/2010/main" val="311667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E4AF0-C1D4-BD27-2AD9-024259A3724E}"/>
              </a:ext>
            </a:extLst>
          </p:cNvPr>
          <p:cNvSpPr>
            <a:spLocks noGrp="1"/>
          </p:cNvSpPr>
          <p:nvPr>
            <p:ph type="title"/>
          </p:nvPr>
        </p:nvSpPr>
        <p:spPr>
          <a:xfrm>
            <a:off x="688571" y="2103437"/>
            <a:ext cx="10515600" cy="1325563"/>
          </a:xfrm>
        </p:spPr>
        <p:txBody>
          <a:bodyPr>
            <a:normAutofit/>
          </a:bodyPr>
          <a:lstStyle/>
          <a:p>
            <a:pPr algn="ctr"/>
            <a:r>
              <a:rPr lang="en-GB" sz="6000" b="1" dirty="0">
                <a:solidFill>
                  <a:schemeClr val="tx1"/>
                </a:solidFill>
              </a:rPr>
              <a:t>Background Concepts</a:t>
            </a:r>
            <a:endParaRPr lang="en-US" sz="6000" b="1" dirty="0">
              <a:solidFill>
                <a:schemeClr val="tx1"/>
              </a:solidFill>
            </a:endParaRPr>
          </a:p>
        </p:txBody>
      </p:sp>
    </p:spTree>
    <p:extLst>
      <p:ext uri="{BB962C8B-B14F-4D97-AF65-F5344CB8AC3E}">
        <p14:creationId xmlns:p14="http://schemas.microsoft.com/office/powerpoint/2010/main" val="3700129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BC19A9C-086E-6FB8-C6B7-314D22A9C670}"/>
              </a:ext>
            </a:extLst>
          </p:cNvPr>
          <p:cNvGraphicFramePr>
            <a:graphicFrameLocks noGrp="1"/>
          </p:cNvGraphicFramePr>
          <p:nvPr>
            <p:extLst>
              <p:ext uri="{D42A27DB-BD31-4B8C-83A1-F6EECF244321}">
                <p14:modId xmlns:p14="http://schemas.microsoft.com/office/powerpoint/2010/main" val="2973537844"/>
              </p:ext>
            </p:extLst>
          </p:nvPr>
        </p:nvGraphicFramePr>
        <p:xfrm>
          <a:off x="72044" y="126691"/>
          <a:ext cx="11959243" cy="6514065"/>
        </p:xfrm>
        <a:graphic>
          <a:graphicData uri="http://schemas.openxmlformats.org/drawingml/2006/table">
            <a:tbl>
              <a:tblPr firstRow="1" bandRow="1">
                <a:tableStyleId>{5C22544A-7EE6-4342-B048-85BDC9FD1C3A}</a:tableStyleId>
              </a:tblPr>
              <a:tblGrid>
                <a:gridCol w="495285">
                  <a:extLst>
                    <a:ext uri="{9D8B030D-6E8A-4147-A177-3AD203B41FA5}">
                      <a16:colId xmlns:a16="http://schemas.microsoft.com/office/drawing/2014/main" val="1820410624"/>
                    </a:ext>
                  </a:extLst>
                </a:gridCol>
                <a:gridCol w="593166">
                  <a:extLst>
                    <a:ext uri="{9D8B030D-6E8A-4147-A177-3AD203B41FA5}">
                      <a16:colId xmlns:a16="http://schemas.microsoft.com/office/drawing/2014/main" val="4160700028"/>
                    </a:ext>
                  </a:extLst>
                </a:gridCol>
                <a:gridCol w="4469300">
                  <a:extLst>
                    <a:ext uri="{9D8B030D-6E8A-4147-A177-3AD203B41FA5}">
                      <a16:colId xmlns:a16="http://schemas.microsoft.com/office/drawing/2014/main" val="3379462763"/>
                    </a:ext>
                  </a:extLst>
                </a:gridCol>
                <a:gridCol w="5872929">
                  <a:extLst>
                    <a:ext uri="{9D8B030D-6E8A-4147-A177-3AD203B41FA5}">
                      <a16:colId xmlns:a16="http://schemas.microsoft.com/office/drawing/2014/main" val="1637532814"/>
                    </a:ext>
                  </a:extLst>
                </a:gridCol>
                <a:gridCol w="528563">
                  <a:extLst>
                    <a:ext uri="{9D8B030D-6E8A-4147-A177-3AD203B41FA5}">
                      <a16:colId xmlns:a16="http://schemas.microsoft.com/office/drawing/2014/main" val="2815517234"/>
                    </a:ext>
                  </a:extLst>
                </a:gridCol>
              </a:tblGrid>
              <a:tr h="383889">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 statement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B statement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B</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20723837"/>
                  </a:ext>
                </a:extLst>
              </a:tr>
              <a:tr h="266361">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Prokaryotic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minimum level of transcription that occurs in the absence of specific activators or repressors.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814525076"/>
                  </a:ext>
                </a:extLst>
              </a:tr>
              <a:tr h="268941">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b</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Eukaryotic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 requires a specific set of general proteins that assemble at a gene promoter to recruit RNA Polymerase.</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776809939"/>
                  </a:ext>
                </a:extLst>
              </a:tr>
              <a:tr h="268942">
                <a:tc>
                  <a:txBody>
                    <a:bodyPr/>
                    <a:lstStyle/>
                    <a:p>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c</a:t>
                      </a:r>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kumimoji="0" lang="en-US" altLang="en-US" sz="1100" b="1" i="0" u="none" strike="noStrike" cap="none" normalizeH="0" baseline="0" dirty="0">
                          <a:ln>
                            <a:noFill/>
                          </a:ln>
                          <a:solidFill>
                            <a:schemeClr val="bg1"/>
                          </a:solidFill>
                          <a:effectLst/>
                          <a:latin typeface="Calibri Light" panose="020F0302020204030204" pitchFamily="34" charset="0"/>
                          <a:ea typeface="Calibri Light" panose="020F0302020204030204" pitchFamily="34" charset="0"/>
                          <a:cs typeface="Calibri Light" panose="020F0302020204030204" pitchFamily="34" charset="0"/>
                        </a:rPr>
                        <a:t>RNAPI, RNAPII and RNAPIII</a:t>
                      </a:r>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Collective name for GTFs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47261151"/>
                  </a:ext>
                </a:extLst>
              </a:tr>
              <a:tr h="217821">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d</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The Pre-Initiation Complex (PIC)</a:t>
                      </a:r>
                    </a:p>
                  </a:txBody>
                  <a:tcPr/>
                </a:tc>
                <a:tc>
                  <a:txBody>
                    <a:bodyPr/>
                    <a:lstStyle/>
                    <a:p>
                      <a:r>
                        <a:rPr kumimoji="0" lang="en-US" altLang="en-US" sz="1100" b="1" i="0" u="none" strike="noStrike" cap="none" normalizeH="0" baseline="0" dirty="0">
                          <a:ln>
                            <a:noFill/>
                          </a:ln>
                          <a:solidFill>
                            <a:schemeClr val="bg1"/>
                          </a:solidFill>
                          <a:effectLst/>
                          <a:latin typeface="Calibri Light" panose="020F0302020204030204" pitchFamily="34" charset="0"/>
                          <a:ea typeface="Calibri Light" panose="020F0302020204030204" pitchFamily="34" charset="0"/>
                          <a:cs typeface="Calibri Light" panose="020F0302020204030204" pitchFamily="34" charset="0"/>
                        </a:rPr>
                        <a:t>RNAPII</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43908599"/>
                  </a:ext>
                </a:extLst>
              </a:tr>
              <a:tr h="310158">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e</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They form a platform on the DNA promoter that recruits and positions RNAPII correctly at the Transcription Start Site (TSS).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TFIIH is critical</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33383206"/>
                  </a:ext>
                </a:extLst>
              </a:tr>
              <a:tr h="262367">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f</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crucial link between specific regulatory signals and the basal machinery.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DNA sequence immediately surrounding the transcription start site (TSS, usually designated +1).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7959964"/>
                  </a:ext>
                </a:extLst>
              </a:tr>
              <a:tr h="251011">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g</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"General" Transcription Factors (GTFs)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RNA Polymerase holoenzyme can directly recognize and bind to promoter sequences.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217505876"/>
                  </a:ext>
                </a:extLst>
              </a:tr>
              <a:tr h="256989">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h</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TFII proteins </a:t>
                      </a:r>
                      <a:r>
                        <a:rPr lang="en-GB" sz="1100" b="1" dirty="0">
                          <a:latin typeface="Calibri Light" panose="020F0302020204030204" pitchFamily="34" charset="0"/>
                          <a:ea typeface="Calibri Light" panose="020F0302020204030204" pitchFamily="34" charset="0"/>
                          <a:cs typeface="Calibri Light" panose="020F0302020204030204" pitchFamily="34" charset="0"/>
                        </a:rPr>
                        <a:t>(Transcription Factor for RNAP II)</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100" b="1" dirty="0">
                          <a:latin typeface="Calibri Light" panose="020F0302020204030204" pitchFamily="34" charset="0"/>
                          <a:ea typeface="Calibri Light" panose="020F0302020204030204" pitchFamily="34" charset="0"/>
                          <a:cs typeface="Calibri Light" panose="020F0302020204030204" pitchFamily="34" charset="0"/>
                        </a:rPr>
                        <a:t>A technique for genome-wide profiling of DNA-binding proteins, histone modifications or nucleosomes.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961044890"/>
                  </a:ext>
                </a:extLst>
              </a:tr>
              <a:tr h="364544">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k</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Basal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Require auxiliary proteins called General Transcription Factors (GTFs) to locate promoters and load the polymerase onto the DNA.</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354030087"/>
                  </a:ext>
                </a:extLst>
              </a:tr>
              <a:tr h="249218">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l</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Its activity is the most highly regulated and cell-specific of the three polymerases.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Transcribes large rRNAs, all protein-coding genes (mRNA) and many non-coding RNAs, tRNAs and small rRNAs.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10</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524116731"/>
                  </a:ext>
                </a:extLst>
              </a:tr>
              <a:tr h="268942">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Transcription Factors (TFs)</a:t>
                      </a:r>
                    </a:p>
                  </a:txBody>
                  <a:tcPr/>
                </a:tc>
                <a:tc>
                  <a:txBody>
                    <a:bodyPr/>
                    <a:lstStyle/>
                    <a:p>
                      <a:r>
                        <a:rPr lang="it-IT" sz="1100" b="1" dirty="0">
                          <a:latin typeface="Calibri Light" panose="020F0302020204030204" pitchFamily="34" charset="0"/>
                          <a:ea typeface="Calibri Light" panose="020F0302020204030204" pitchFamily="34" charset="0"/>
                          <a:cs typeface="Calibri Light" panose="020F0302020204030204" pitchFamily="34" charset="0"/>
                        </a:rPr>
                        <a:t>Estrogen, Testosterone, Cortisol and Vitamin D</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193270476"/>
                  </a:ext>
                </a:extLst>
              </a:tr>
              <a:tr h="262964">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m</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err="1">
                          <a:latin typeface="Calibri Light" panose="020F0302020204030204" pitchFamily="34" charset="0"/>
                          <a:ea typeface="Calibri Light" panose="020F0302020204030204" pitchFamily="34" charset="0"/>
                          <a:cs typeface="Calibri Light" panose="020F0302020204030204" pitchFamily="34" charset="0"/>
                        </a:rPr>
                        <a:t>ChIP</a:t>
                      </a:r>
                      <a:r>
                        <a:rPr lang="en-US" sz="1100" b="1" dirty="0">
                          <a:latin typeface="Calibri Light" panose="020F0302020204030204" pitchFamily="34" charset="0"/>
                          <a:ea typeface="Calibri Light" panose="020F0302020204030204" pitchFamily="34" charset="0"/>
                          <a:cs typeface="Calibri Light" panose="020F0302020204030204" pitchFamily="34" charset="0"/>
                        </a:rPr>
                        <a:t>-seq</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Function of GTFs </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716146309"/>
                  </a:ext>
                </a:extLst>
              </a:tr>
              <a:tr h="239059">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p</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100" b="1" dirty="0">
                          <a:latin typeface="Calibri Light" panose="020F0302020204030204" pitchFamily="34" charset="0"/>
                          <a:ea typeface="Calibri Light" panose="020F0302020204030204" pitchFamily="34" charset="0"/>
                          <a:cs typeface="Calibri Light" panose="020F0302020204030204" pitchFamily="34" charset="0"/>
                        </a:rPr>
                        <a:t>Machinery</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Mediator</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897629771"/>
                  </a:ext>
                </a:extLst>
              </a:tr>
              <a:tr h="304182">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q</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 opens the DNA (helicase) and kickstarts the polymerase via phosphorylation (kinase).</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complete assembly of GTFs and RNAPII at the promoter, ready to start transcription.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16626022"/>
                  </a:ext>
                </a:extLst>
              </a:tr>
              <a:tr h="232485">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Ligands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 highly conserved set of proteins absolutely required for RNAPII transcription initiation at all core promoters.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0230682"/>
                  </a:ext>
                </a:extLst>
              </a:tr>
              <a:tr h="249273">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x</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Core Promoter</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Proteins that bind sequence-specifically to genomic DNA to control gene expression.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4265478590"/>
                  </a:ext>
                </a:extLst>
              </a:tr>
              <a:tr h="249273">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Nuclear receptors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 ER antagonist used in breast cancer therapy.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917385396"/>
                  </a:ext>
                </a:extLst>
              </a:tr>
              <a:tr h="249273">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z</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Signal-Dependent Factors (Require activation)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 superfamily of ligand-inducible transcription factors.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479010756"/>
                  </a:ext>
                </a:extLst>
              </a:tr>
              <a:tr h="0">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v</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Tamoxifen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Nuclear Receptors, Internal Signals, Cell Surface Receptor Dependent</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240367107"/>
                  </a:ext>
                </a:extLst>
              </a:tr>
            </a:tbl>
          </a:graphicData>
        </a:graphic>
      </p:graphicFrame>
    </p:spTree>
    <p:extLst>
      <p:ext uri="{BB962C8B-B14F-4D97-AF65-F5344CB8AC3E}">
        <p14:creationId xmlns:p14="http://schemas.microsoft.com/office/powerpoint/2010/main" val="1800613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BC19A9C-086E-6FB8-C6B7-314D22A9C670}"/>
              </a:ext>
            </a:extLst>
          </p:cNvPr>
          <p:cNvGraphicFramePr>
            <a:graphicFrameLocks noGrp="1"/>
          </p:cNvGraphicFramePr>
          <p:nvPr>
            <p:extLst>
              <p:ext uri="{D42A27DB-BD31-4B8C-83A1-F6EECF244321}">
                <p14:modId xmlns:p14="http://schemas.microsoft.com/office/powerpoint/2010/main" val="3945671817"/>
              </p:ext>
            </p:extLst>
          </p:nvPr>
        </p:nvGraphicFramePr>
        <p:xfrm>
          <a:off x="72044" y="126691"/>
          <a:ext cx="11959243" cy="6514065"/>
        </p:xfrm>
        <a:graphic>
          <a:graphicData uri="http://schemas.openxmlformats.org/drawingml/2006/table">
            <a:tbl>
              <a:tblPr firstRow="1" bandRow="1">
                <a:tableStyleId>{5C22544A-7EE6-4342-B048-85BDC9FD1C3A}</a:tableStyleId>
              </a:tblPr>
              <a:tblGrid>
                <a:gridCol w="495285">
                  <a:extLst>
                    <a:ext uri="{9D8B030D-6E8A-4147-A177-3AD203B41FA5}">
                      <a16:colId xmlns:a16="http://schemas.microsoft.com/office/drawing/2014/main" val="1820410624"/>
                    </a:ext>
                  </a:extLst>
                </a:gridCol>
                <a:gridCol w="593166">
                  <a:extLst>
                    <a:ext uri="{9D8B030D-6E8A-4147-A177-3AD203B41FA5}">
                      <a16:colId xmlns:a16="http://schemas.microsoft.com/office/drawing/2014/main" val="4160700028"/>
                    </a:ext>
                  </a:extLst>
                </a:gridCol>
                <a:gridCol w="4469300">
                  <a:extLst>
                    <a:ext uri="{9D8B030D-6E8A-4147-A177-3AD203B41FA5}">
                      <a16:colId xmlns:a16="http://schemas.microsoft.com/office/drawing/2014/main" val="3379462763"/>
                    </a:ext>
                  </a:extLst>
                </a:gridCol>
                <a:gridCol w="5872929">
                  <a:extLst>
                    <a:ext uri="{9D8B030D-6E8A-4147-A177-3AD203B41FA5}">
                      <a16:colId xmlns:a16="http://schemas.microsoft.com/office/drawing/2014/main" val="1637532814"/>
                    </a:ext>
                  </a:extLst>
                </a:gridCol>
                <a:gridCol w="528563">
                  <a:extLst>
                    <a:ext uri="{9D8B030D-6E8A-4147-A177-3AD203B41FA5}">
                      <a16:colId xmlns:a16="http://schemas.microsoft.com/office/drawing/2014/main" val="2815517234"/>
                    </a:ext>
                  </a:extLst>
                </a:gridCol>
              </a:tblGrid>
              <a:tr h="383889">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 statement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B statement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B</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20723837"/>
                  </a:ext>
                </a:extLst>
              </a:tr>
              <a:tr h="266361">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Prokaryotic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minimum level of transcription that occurs in the absence of specific activators or repressors.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814525076"/>
                  </a:ext>
                </a:extLst>
              </a:tr>
              <a:tr h="268941">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b</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Eukaryotic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 requires a specific set of general proteins that assemble at a gene promoter to recruit RNA Polymerase.</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776809939"/>
                  </a:ext>
                </a:extLst>
              </a:tr>
              <a:tr h="268942">
                <a:tc>
                  <a:txBody>
                    <a:bodyPr/>
                    <a:lstStyle/>
                    <a:p>
                      <a:r>
                        <a:rPr lang="en-GB"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10</a:t>
                      </a:r>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c</a:t>
                      </a:r>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kumimoji="0" lang="en-US" altLang="en-US" sz="1100" b="1" i="0" u="none" strike="noStrike" cap="none" normalizeH="0" baseline="0" dirty="0">
                          <a:ln>
                            <a:noFill/>
                          </a:ln>
                          <a:solidFill>
                            <a:schemeClr val="bg1"/>
                          </a:solidFill>
                          <a:effectLst/>
                          <a:latin typeface="Calibri Light" panose="020F0302020204030204" pitchFamily="34" charset="0"/>
                          <a:ea typeface="Calibri Light" panose="020F0302020204030204" pitchFamily="34" charset="0"/>
                          <a:cs typeface="Calibri Light" panose="020F0302020204030204" pitchFamily="34" charset="0"/>
                        </a:rPr>
                        <a:t>RNAPI, RNAPII and RNAPIII</a:t>
                      </a:r>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Collective name for GTFs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47261151"/>
                  </a:ext>
                </a:extLst>
              </a:tr>
              <a:tr h="217821">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d</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The Pre-Initiation Complex (PIC)</a:t>
                      </a:r>
                    </a:p>
                  </a:txBody>
                  <a:tcPr/>
                </a:tc>
                <a:tc>
                  <a:txBody>
                    <a:bodyPr/>
                    <a:lstStyle/>
                    <a:p>
                      <a:r>
                        <a:rPr kumimoji="0" lang="en-US" altLang="en-US" sz="1100" b="1" i="0" u="none" strike="noStrike" cap="none" normalizeH="0" baseline="0" dirty="0">
                          <a:ln>
                            <a:noFill/>
                          </a:ln>
                          <a:solidFill>
                            <a:schemeClr val="bg1"/>
                          </a:solidFill>
                          <a:effectLst/>
                          <a:latin typeface="Calibri Light" panose="020F0302020204030204" pitchFamily="34" charset="0"/>
                          <a:ea typeface="Calibri Light" panose="020F0302020204030204" pitchFamily="34" charset="0"/>
                          <a:cs typeface="Calibri Light" panose="020F0302020204030204" pitchFamily="34" charset="0"/>
                        </a:rPr>
                        <a:t>RNAPII</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43908599"/>
                  </a:ext>
                </a:extLst>
              </a:tr>
              <a:tr h="310158">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e</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They form a platform on the DNA promoter that recruits and positions RNAPII correctly at the Transcription Start Site (TSS).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TFIIH is critical</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33383206"/>
                  </a:ext>
                </a:extLst>
              </a:tr>
              <a:tr h="262367">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f</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crucial link between specific regulatory signals and the basal machinery.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DNA sequence immediately surrounding the transcription start site (TSS, usually designated +1).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7959964"/>
                  </a:ext>
                </a:extLst>
              </a:tr>
              <a:tr h="251011">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g</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"General" Transcription Factors (GTFs)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RNA Polymerase holoenzyme can directly recognize and bind to promoter sequences.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217505876"/>
                  </a:ext>
                </a:extLst>
              </a:tr>
              <a:tr h="256989">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h</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TFII proteins </a:t>
                      </a:r>
                      <a:r>
                        <a:rPr lang="en-GB" sz="1100" b="1" dirty="0">
                          <a:latin typeface="Calibri Light" panose="020F0302020204030204" pitchFamily="34" charset="0"/>
                          <a:ea typeface="Calibri Light" panose="020F0302020204030204" pitchFamily="34" charset="0"/>
                          <a:cs typeface="Calibri Light" panose="020F0302020204030204" pitchFamily="34" charset="0"/>
                        </a:rPr>
                        <a:t>(Transcription Factor for RNAP II)</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100" b="1" dirty="0">
                          <a:latin typeface="Calibri Light" panose="020F0302020204030204" pitchFamily="34" charset="0"/>
                          <a:ea typeface="Calibri Light" panose="020F0302020204030204" pitchFamily="34" charset="0"/>
                          <a:cs typeface="Calibri Light" panose="020F0302020204030204" pitchFamily="34" charset="0"/>
                        </a:rPr>
                        <a:t>A technique for genome-wide profiling of DNA-binding proteins, histone modifications or nucleosomes.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961044890"/>
                  </a:ext>
                </a:extLst>
              </a:tr>
              <a:tr h="364544">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k</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Basal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Require auxiliary proteins called General Transcription Factors (GTFs) to locate promoters and load the polymerase onto the DNA.</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354030087"/>
                  </a:ext>
                </a:extLst>
              </a:tr>
              <a:tr h="249218">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l</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Its activity is the most highly regulated and cell-specific of the three polymerases.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Transcribes large rRNAs, all protein-coding genes (mRNA) and many non-coding RNAs, tRNAs and small rRNAs.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10</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524116731"/>
                  </a:ext>
                </a:extLst>
              </a:tr>
              <a:tr h="268942">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Transcription Factors (TFs)</a:t>
                      </a:r>
                    </a:p>
                  </a:txBody>
                  <a:tcPr/>
                </a:tc>
                <a:tc>
                  <a:txBody>
                    <a:bodyPr/>
                    <a:lstStyle/>
                    <a:p>
                      <a:r>
                        <a:rPr lang="it-IT" sz="1100" b="1" dirty="0">
                          <a:latin typeface="Calibri Light" panose="020F0302020204030204" pitchFamily="34" charset="0"/>
                          <a:ea typeface="Calibri Light" panose="020F0302020204030204" pitchFamily="34" charset="0"/>
                          <a:cs typeface="Calibri Light" panose="020F0302020204030204" pitchFamily="34" charset="0"/>
                        </a:rPr>
                        <a:t>Estrogen, Testosterone, Cortisol and Vitamin D</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193270476"/>
                  </a:ext>
                </a:extLst>
              </a:tr>
              <a:tr h="262964">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m</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err="1">
                          <a:latin typeface="Calibri Light" panose="020F0302020204030204" pitchFamily="34" charset="0"/>
                          <a:ea typeface="Calibri Light" panose="020F0302020204030204" pitchFamily="34" charset="0"/>
                          <a:cs typeface="Calibri Light" panose="020F0302020204030204" pitchFamily="34" charset="0"/>
                        </a:rPr>
                        <a:t>ChIP</a:t>
                      </a:r>
                      <a:r>
                        <a:rPr lang="en-US" sz="1100" b="1" dirty="0">
                          <a:latin typeface="Calibri Light" panose="020F0302020204030204" pitchFamily="34" charset="0"/>
                          <a:ea typeface="Calibri Light" panose="020F0302020204030204" pitchFamily="34" charset="0"/>
                          <a:cs typeface="Calibri Light" panose="020F0302020204030204" pitchFamily="34" charset="0"/>
                        </a:rPr>
                        <a:t>-seq</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Function of GTFs </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716146309"/>
                  </a:ext>
                </a:extLst>
              </a:tr>
              <a:tr h="239059">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p</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100" b="1" dirty="0">
                          <a:latin typeface="Calibri Light" panose="020F0302020204030204" pitchFamily="34" charset="0"/>
                          <a:ea typeface="Calibri Light" panose="020F0302020204030204" pitchFamily="34" charset="0"/>
                          <a:cs typeface="Calibri Light" panose="020F0302020204030204" pitchFamily="34" charset="0"/>
                        </a:rPr>
                        <a:t>Machinery</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Mediator</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897629771"/>
                  </a:ext>
                </a:extLst>
              </a:tr>
              <a:tr h="304182">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q</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 opens the DNA (helicase) and kickstarts the polymerase via phosphorylation (kinase).</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complete assembly of GTFs and RNAPII at the promoter, ready to start transcription.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16626022"/>
                  </a:ext>
                </a:extLst>
              </a:tr>
              <a:tr h="232485">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Ligands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 highly conserved set of proteins absolutely required for RNAPII transcription initiation at all core promoters.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0230682"/>
                  </a:ext>
                </a:extLst>
              </a:tr>
              <a:tr h="249273">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x</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Core Promoter</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Proteins that bind sequence-specifically to genomic DNA to control gene expression.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4265478590"/>
                  </a:ext>
                </a:extLst>
              </a:tr>
              <a:tr h="249273">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Nuclear receptors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 ER antagonist used in breast cancer therapy.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917385396"/>
                  </a:ext>
                </a:extLst>
              </a:tr>
              <a:tr h="249273">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z</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Signal-Dependent Factors (Require activation)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 superfamily of ligand-inducible transcription factors.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479010756"/>
                  </a:ext>
                </a:extLst>
              </a:tr>
              <a:tr h="0">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v</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Tamoxifen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Nuclear Receptors, Internal Signals, Cell Surface Receptor Dependent</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240367107"/>
                  </a:ext>
                </a:extLst>
              </a:tr>
            </a:tbl>
          </a:graphicData>
        </a:graphic>
      </p:graphicFrame>
    </p:spTree>
    <p:extLst>
      <p:ext uri="{BB962C8B-B14F-4D97-AF65-F5344CB8AC3E}">
        <p14:creationId xmlns:p14="http://schemas.microsoft.com/office/powerpoint/2010/main" val="2030744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86303" y="191379"/>
            <a:ext cx="9404723" cy="836603"/>
          </a:xfrm>
        </p:spPr>
        <p:txBody>
          <a:bodyPr/>
          <a:lstStyle/>
          <a:p>
            <a:pPr algn="ctr"/>
            <a:r>
              <a:rPr lang="en-GB" sz="4400" b="1" dirty="0"/>
              <a:t>The Challenge of Eukaryotic Transcription</a:t>
            </a:r>
            <a:endParaRPr lang="en-US" sz="4400" b="1" dirty="0"/>
          </a:p>
        </p:txBody>
      </p:sp>
      <p:sp>
        <p:nvSpPr>
          <p:cNvPr id="5" name="TextBox 4">
            <a:extLst>
              <a:ext uri="{FF2B5EF4-FFF2-40B4-BE49-F238E27FC236}">
                <a16:creationId xmlns:a16="http://schemas.microsoft.com/office/drawing/2014/main" id="{A3B1B8C7-7A7E-4DC5-5F4D-BD3A9F0D7EC9}"/>
              </a:ext>
            </a:extLst>
          </p:cNvPr>
          <p:cNvSpPr txBox="1"/>
          <p:nvPr/>
        </p:nvSpPr>
        <p:spPr>
          <a:xfrm>
            <a:off x="975815" y="6278942"/>
            <a:ext cx="10312588" cy="338554"/>
          </a:xfrm>
          <a:prstGeom prst="rect">
            <a:avLst/>
          </a:prstGeom>
          <a:noFill/>
        </p:spPr>
        <p:txBody>
          <a:bodyPr wrap="square">
            <a:spAutoFit/>
          </a:bodyPr>
          <a:lstStyle/>
          <a:p>
            <a:pPr algn="ctr"/>
            <a:r>
              <a:rPr lang="en-US" sz="1600" dirty="0"/>
              <a:t>https://www.ncbi.nlm.nih.gov/books/NBK27041/figure/thechromatinsignature.F1/</a:t>
            </a:r>
          </a:p>
        </p:txBody>
      </p:sp>
      <p:pic>
        <p:nvPicPr>
          <p:cNvPr id="4098" name="Picture 2" descr="Figure 1. The basic unit of chromatin organization is the nucleosome, which comprises 147 bp of DNA wrapped around a core of histone proteins.">
            <a:extLst>
              <a:ext uri="{FF2B5EF4-FFF2-40B4-BE49-F238E27FC236}">
                <a16:creationId xmlns:a16="http://schemas.microsoft.com/office/drawing/2014/main" id="{086F2097-0BA3-7335-2D62-20C48316C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164" y="1027982"/>
            <a:ext cx="5715000" cy="50387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7601A39-E050-7518-75D7-D575D2991B1C}"/>
              </a:ext>
            </a:extLst>
          </p:cNvPr>
          <p:cNvSpPr/>
          <p:nvPr/>
        </p:nvSpPr>
        <p:spPr>
          <a:xfrm>
            <a:off x="1246909" y="191379"/>
            <a:ext cx="3363884" cy="7618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a)</a:t>
            </a:r>
            <a:endParaRPr lang="en-US" b="1" dirty="0"/>
          </a:p>
        </p:txBody>
      </p:sp>
      <p:sp>
        <p:nvSpPr>
          <p:cNvPr id="4" name="Rectangle 3">
            <a:extLst>
              <a:ext uri="{FF2B5EF4-FFF2-40B4-BE49-F238E27FC236}">
                <a16:creationId xmlns:a16="http://schemas.microsoft.com/office/drawing/2014/main" id="{FD7FCF7D-0274-5B59-DDAE-8EFF6ACC2E34}"/>
              </a:ext>
            </a:extLst>
          </p:cNvPr>
          <p:cNvSpPr/>
          <p:nvPr/>
        </p:nvSpPr>
        <p:spPr>
          <a:xfrm>
            <a:off x="7265324" y="1717964"/>
            <a:ext cx="709352" cy="42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6" name="Rectangle 5">
            <a:extLst>
              <a:ext uri="{FF2B5EF4-FFF2-40B4-BE49-F238E27FC236}">
                <a16:creationId xmlns:a16="http://schemas.microsoft.com/office/drawing/2014/main" id="{4C4AB2AD-02C5-C7A1-F690-B263F94443BA}"/>
              </a:ext>
            </a:extLst>
          </p:cNvPr>
          <p:cNvSpPr/>
          <p:nvPr/>
        </p:nvSpPr>
        <p:spPr>
          <a:xfrm>
            <a:off x="3117284" y="1615436"/>
            <a:ext cx="1149916" cy="42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7" name="Rectangle 6">
            <a:extLst>
              <a:ext uri="{FF2B5EF4-FFF2-40B4-BE49-F238E27FC236}">
                <a16:creationId xmlns:a16="http://schemas.microsoft.com/office/drawing/2014/main" id="{2C53350A-E5B7-F3ED-883F-A059264E8AAB}"/>
              </a:ext>
            </a:extLst>
          </p:cNvPr>
          <p:cNvSpPr/>
          <p:nvPr/>
        </p:nvSpPr>
        <p:spPr>
          <a:xfrm>
            <a:off x="5915892" y="3526011"/>
            <a:ext cx="1582188" cy="42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
        <p:nvSpPr>
          <p:cNvPr id="8" name="Rectangle 7">
            <a:extLst>
              <a:ext uri="{FF2B5EF4-FFF2-40B4-BE49-F238E27FC236}">
                <a16:creationId xmlns:a16="http://schemas.microsoft.com/office/drawing/2014/main" id="{13EB90B4-9EA9-A4D0-F11C-7E209429F8AD}"/>
              </a:ext>
            </a:extLst>
          </p:cNvPr>
          <p:cNvSpPr/>
          <p:nvPr/>
        </p:nvSpPr>
        <p:spPr>
          <a:xfrm>
            <a:off x="3773979" y="4071881"/>
            <a:ext cx="1582188" cy="42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US" dirty="0"/>
          </a:p>
        </p:txBody>
      </p:sp>
      <p:sp>
        <p:nvSpPr>
          <p:cNvPr id="9" name="Rectangle 8">
            <a:extLst>
              <a:ext uri="{FF2B5EF4-FFF2-40B4-BE49-F238E27FC236}">
                <a16:creationId xmlns:a16="http://schemas.microsoft.com/office/drawing/2014/main" id="{BEBCE941-8ECF-AA7C-F168-A3ADE5C4D311}"/>
              </a:ext>
            </a:extLst>
          </p:cNvPr>
          <p:cNvSpPr/>
          <p:nvPr/>
        </p:nvSpPr>
        <p:spPr>
          <a:xfrm>
            <a:off x="7439892" y="5922889"/>
            <a:ext cx="1582188" cy="42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US" dirty="0"/>
          </a:p>
        </p:txBody>
      </p:sp>
    </p:spTree>
    <p:extLst>
      <p:ext uri="{BB962C8B-B14F-4D97-AF65-F5344CB8AC3E}">
        <p14:creationId xmlns:p14="http://schemas.microsoft.com/office/powerpoint/2010/main" val="1600854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86303" y="191379"/>
            <a:ext cx="9404723" cy="836603"/>
          </a:xfrm>
        </p:spPr>
        <p:txBody>
          <a:bodyPr/>
          <a:lstStyle/>
          <a:p>
            <a:pPr algn="ctr"/>
            <a:r>
              <a:rPr lang="en-GB" sz="4400" b="1" dirty="0"/>
              <a:t>The Challenge of Eukaryotic Transcription</a:t>
            </a:r>
            <a:endParaRPr lang="en-US" sz="4400" b="1" dirty="0"/>
          </a:p>
        </p:txBody>
      </p:sp>
      <p:sp>
        <p:nvSpPr>
          <p:cNvPr id="5" name="TextBox 4">
            <a:extLst>
              <a:ext uri="{FF2B5EF4-FFF2-40B4-BE49-F238E27FC236}">
                <a16:creationId xmlns:a16="http://schemas.microsoft.com/office/drawing/2014/main" id="{A3B1B8C7-7A7E-4DC5-5F4D-BD3A9F0D7EC9}"/>
              </a:ext>
            </a:extLst>
          </p:cNvPr>
          <p:cNvSpPr txBox="1"/>
          <p:nvPr/>
        </p:nvSpPr>
        <p:spPr>
          <a:xfrm>
            <a:off x="975815" y="6278942"/>
            <a:ext cx="10312588" cy="338554"/>
          </a:xfrm>
          <a:prstGeom prst="rect">
            <a:avLst/>
          </a:prstGeom>
          <a:noFill/>
        </p:spPr>
        <p:txBody>
          <a:bodyPr wrap="square">
            <a:spAutoFit/>
          </a:bodyPr>
          <a:lstStyle/>
          <a:p>
            <a:pPr algn="ctr"/>
            <a:r>
              <a:rPr lang="en-US" sz="1600" dirty="0"/>
              <a:t>https://www.ncbi.nlm.nih.gov/books/NBK27041/figure/thechromatinsignature.F1/</a:t>
            </a:r>
          </a:p>
        </p:txBody>
      </p:sp>
      <p:pic>
        <p:nvPicPr>
          <p:cNvPr id="4098" name="Picture 2" descr="Figure 1. The basic unit of chromatin organization is the nucleosome, which comprises 147 bp of DNA wrapped around a core of histone proteins.">
            <a:extLst>
              <a:ext uri="{FF2B5EF4-FFF2-40B4-BE49-F238E27FC236}">
                <a16:creationId xmlns:a16="http://schemas.microsoft.com/office/drawing/2014/main" id="{086F2097-0BA3-7335-2D62-20C48316C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164" y="1027982"/>
            <a:ext cx="5715000" cy="503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956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86083"/>
            <a:ext cx="10345978" cy="578936"/>
          </a:xfrm>
        </p:spPr>
        <p:txBody>
          <a:bodyPr/>
          <a:lstStyle/>
          <a:p>
            <a:pPr algn="ctr"/>
            <a:r>
              <a:rPr lang="en-GB" sz="3600" b="1" dirty="0"/>
              <a:t>Assembly of the basal transcriptional machinery</a:t>
            </a:r>
            <a:endParaRPr lang="en-US" sz="3600" b="1" dirty="0"/>
          </a:p>
        </p:txBody>
      </p:sp>
      <p:pic>
        <p:nvPicPr>
          <p:cNvPr id="4" name="Picture 3">
            <a:extLst>
              <a:ext uri="{FF2B5EF4-FFF2-40B4-BE49-F238E27FC236}">
                <a16:creationId xmlns:a16="http://schemas.microsoft.com/office/drawing/2014/main" id="{648D17DE-D1D5-9263-543C-3B3F87FB016A}"/>
              </a:ext>
            </a:extLst>
          </p:cNvPr>
          <p:cNvPicPr>
            <a:picLocks noChangeAspect="1"/>
          </p:cNvPicPr>
          <p:nvPr/>
        </p:nvPicPr>
        <p:blipFill>
          <a:blip r:embed="rId2"/>
          <a:stretch>
            <a:fillRect/>
          </a:stretch>
        </p:blipFill>
        <p:spPr>
          <a:xfrm>
            <a:off x="999656" y="778967"/>
            <a:ext cx="9962060" cy="6029155"/>
          </a:xfrm>
          <a:prstGeom prst="rect">
            <a:avLst/>
          </a:prstGeom>
        </p:spPr>
      </p:pic>
      <p:sp>
        <p:nvSpPr>
          <p:cNvPr id="3" name="Rectangle 2">
            <a:extLst>
              <a:ext uri="{FF2B5EF4-FFF2-40B4-BE49-F238E27FC236}">
                <a16:creationId xmlns:a16="http://schemas.microsoft.com/office/drawing/2014/main" id="{1A250D3C-E916-4158-C38B-481AAA5428EA}"/>
              </a:ext>
            </a:extLst>
          </p:cNvPr>
          <p:cNvSpPr/>
          <p:nvPr/>
        </p:nvSpPr>
        <p:spPr>
          <a:xfrm>
            <a:off x="4555375" y="86083"/>
            <a:ext cx="5813367" cy="6509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t>a)</a:t>
            </a:r>
            <a:endParaRPr lang="en-US" sz="2400" dirty="0"/>
          </a:p>
        </p:txBody>
      </p:sp>
      <p:sp>
        <p:nvSpPr>
          <p:cNvPr id="6" name="Rectangle 5">
            <a:extLst>
              <a:ext uri="{FF2B5EF4-FFF2-40B4-BE49-F238E27FC236}">
                <a16:creationId xmlns:a16="http://schemas.microsoft.com/office/drawing/2014/main" id="{21D73B5D-673C-3836-282B-C15897AF88F0}"/>
              </a:ext>
            </a:extLst>
          </p:cNvPr>
          <p:cNvSpPr/>
          <p:nvPr/>
        </p:nvSpPr>
        <p:spPr>
          <a:xfrm>
            <a:off x="1961584" y="2466434"/>
            <a:ext cx="592975" cy="404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Rectangle 6">
            <a:extLst>
              <a:ext uri="{FF2B5EF4-FFF2-40B4-BE49-F238E27FC236}">
                <a16:creationId xmlns:a16="http://schemas.microsoft.com/office/drawing/2014/main" id="{6A9A05F8-485C-2C28-BC5E-5B39CCDD55E8}"/>
              </a:ext>
            </a:extLst>
          </p:cNvPr>
          <p:cNvSpPr/>
          <p:nvPr/>
        </p:nvSpPr>
        <p:spPr>
          <a:xfrm>
            <a:off x="3213655" y="1955446"/>
            <a:ext cx="1083427" cy="692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8" name="Rectangle 7">
            <a:extLst>
              <a:ext uri="{FF2B5EF4-FFF2-40B4-BE49-F238E27FC236}">
                <a16:creationId xmlns:a16="http://schemas.microsoft.com/office/drawing/2014/main" id="{A587B072-22AE-0AE0-B66E-49F5968DF4D9}"/>
              </a:ext>
            </a:extLst>
          </p:cNvPr>
          <p:cNvSpPr/>
          <p:nvPr/>
        </p:nvSpPr>
        <p:spPr>
          <a:xfrm>
            <a:off x="5720784" y="2956505"/>
            <a:ext cx="1083427" cy="692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
        <p:nvSpPr>
          <p:cNvPr id="9" name="Rectangle 8">
            <a:extLst>
              <a:ext uri="{FF2B5EF4-FFF2-40B4-BE49-F238E27FC236}">
                <a16:creationId xmlns:a16="http://schemas.microsoft.com/office/drawing/2014/main" id="{DCD49FA5-AB21-7E18-7B8D-299FD0DE46F4}"/>
              </a:ext>
            </a:extLst>
          </p:cNvPr>
          <p:cNvSpPr/>
          <p:nvPr/>
        </p:nvSpPr>
        <p:spPr>
          <a:xfrm>
            <a:off x="5179070" y="4937705"/>
            <a:ext cx="1083427" cy="692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US" dirty="0"/>
          </a:p>
        </p:txBody>
      </p:sp>
      <p:sp>
        <p:nvSpPr>
          <p:cNvPr id="10" name="Rectangle 9">
            <a:extLst>
              <a:ext uri="{FF2B5EF4-FFF2-40B4-BE49-F238E27FC236}">
                <a16:creationId xmlns:a16="http://schemas.microsoft.com/office/drawing/2014/main" id="{C7DFD875-E246-2220-1E7B-652217321AAC}"/>
              </a:ext>
            </a:extLst>
          </p:cNvPr>
          <p:cNvSpPr/>
          <p:nvPr/>
        </p:nvSpPr>
        <p:spPr>
          <a:xfrm>
            <a:off x="8559400" y="5730292"/>
            <a:ext cx="592975" cy="404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US" dirty="0"/>
          </a:p>
        </p:txBody>
      </p:sp>
    </p:spTree>
    <p:extLst>
      <p:ext uri="{BB962C8B-B14F-4D97-AF65-F5344CB8AC3E}">
        <p14:creationId xmlns:p14="http://schemas.microsoft.com/office/powerpoint/2010/main" val="1073707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86083"/>
            <a:ext cx="10345978" cy="578936"/>
          </a:xfrm>
        </p:spPr>
        <p:txBody>
          <a:bodyPr/>
          <a:lstStyle/>
          <a:p>
            <a:pPr algn="ctr"/>
            <a:r>
              <a:rPr lang="en-GB" sz="3600" b="1" dirty="0"/>
              <a:t>Assembly of the basal transcriptional machinery</a:t>
            </a:r>
            <a:endParaRPr lang="en-US" sz="3600" b="1" dirty="0"/>
          </a:p>
        </p:txBody>
      </p:sp>
      <p:pic>
        <p:nvPicPr>
          <p:cNvPr id="4" name="Picture 3">
            <a:extLst>
              <a:ext uri="{FF2B5EF4-FFF2-40B4-BE49-F238E27FC236}">
                <a16:creationId xmlns:a16="http://schemas.microsoft.com/office/drawing/2014/main" id="{648D17DE-D1D5-9263-543C-3B3F87FB016A}"/>
              </a:ext>
            </a:extLst>
          </p:cNvPr>
          <p:cNvPicPr>
            <a:picLocks noChangeAspect="1"/>
          </p:cNvPicPr>
          <p:nvPr/>
        </p:nvPicPr>
        <p:blipFill>
          <a:blip r:embed="rId2"/>
          <a:stretch>
            <a:fillRect/>
          </a:stretch>
        </p:blipFill>
        <p:spPr>
          <a:xfrm>
            <a:off x="999656" y="778967"/>
            <a:ext cx="9962060" cy="6029155"/>
          </a:xfrm>
          <a:prstGeom prst="rect">
            <a:avLst/>
          </a:prstGeom>
        </p:spPr>
      </p:pic>
    </p:spTree>
    <p:extLst>
      <p:ext uri="{BB962C8B-B14F-4D97-AF65-F5344CB8AC3E}">
        <p14:creationId xmlns:p14="http://schemas.microsoft.com/office/powerpoint/2010/main" val="3804970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117959"/>
            <a:ext cx="11532524" cy="430679"/>
          </a:xfrm>
        </p:spPr>
        <p:txBody>
          <a:bodyPr>
            <a:noAutofit/>
          </a:bodyPr>
          <a:lstStyle/>
          <a:p>
            <a:pPr algn="ctr"/>
            <a:r>
              <a:rPr lang="en-GB" sz="2600" b="1" i="0" dirty="0">
                <a:solidFill>
                  <a:schemeClr val="tx1"/>
                </a:solidFill>
                <a:effectLst/>
              </a:rPr>
              <a:t>The </a:t>
            </a:r>
            <a:r>
              <a:rPr lang="en-GB" sz="2600" b="1" i="0" dirty="0" err="1">
                <a:solidFill>
                  <a:schemeClr val="tx1"/>
                </a:solidFill>
                <a:effectLst/>
              </a:rPr>
              <a:t>Fetal</a:t>
            </a:r>
            <a:r>
              <a:rPr lang="en-GB" sz="2600" b="1" i="0" dirty="0">
                <a:solidFill>
                  <a:schemeClr val="tx1"/>
                </a:solidFill>
                <a:effectLst/>
              </a:rPr>
              <a:t>-to-Adult </a:t>
            </a:r>
            <a:r>
              <a:rPr lang="en-GB" sz="2600" b="1" i="0" dirty="0" err="1">
                <a:solidFill>
                  <a:schemeClr val="tx1"/>
                </a:solidFill>
                <a:effectLst/>
              </a:rPr>
              <a:t>Hemoglobin</a:t>
            </a:r>
            <a:r>
              <a:rPr lang="en-GB" sz="2600" b="1" i="0" dirty="0">
                <a:solidFill>
                  <a:schemeClr val="tx1"/>
                </a:solidFill>
                <a:effectLst/>
              </a:rPr>
              <a:t> Switch — Mechanism and Therapy</a:t>
            </a:r>
            <a:endParaRPr lang="en-US" sz="2600" b="1" dirty="0">
              <a:solidFill>
                <a:schemeClr val="tx1"/>
              </a:solidFill>
            </a:endParaRPr>
          </a:p>
        </p:txBody>
      </p:sp>
      <p:pic>
        <p:nvPicPr>
          <p:cNvPr id="3074" name="Picture 2" descr="A figure showing hemoglobin switching">
            <a:extLst>
              <a:ext uri="{FF2B5EF4-FFF2-40B4-BE49-F238E27FC236}">
                <a16:creationId xmlns:a16="http://schemas.microsoft.com/office/drawing/2014/main" id="{01F4F47B-A788-078E-D6B9-00754722D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345" y="807524"/>
            <a:ext cx="5932517" cy="59325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B5F3A6-3AF4-D9BB-DD36-6C900EA4AA77}"/>
              </a:ext>
            </a:extLst>
          </p:cNvPr>
          <p:cNvSpPr txBox="1"/>
          <p:nvPr/>
        </p:nvSpPr>
        <p:spPr>
          <a:xfrm>
            <a:off x="9570720" y="6432264"/>
            <a:ext cx="2510444" cy="307777"/>
          </a:xfrm>
          <a:prstGeom prst="rect">
            <a:avLst/>
          </a:prstGeom>
          <a:noFill/>
        </p:spPr>
        <p:txBody>
          <a:bodyPr wrap="square">
            <a:spAutoFit/>
          </a:bodyPr>
          <a:lstStyle/>
          <a:p>
            <a:r>
              <a:rPr lang="en-US" sz="1400" b="1" i="0" dirty="0">
                <a:effectLst/>
                <a:latin typeface="Calibri Light" panose="020F0302020204030204" pitchFamily="34" charset="0"/>
              </a:rPr>
              <a:t>DOI: 10.1056/NEJMra2405260</a:t>
            </a:r>
            <a:endParaRPr lang="en-US" sz="1400" dirty="0">
              <a:latin typeface="Calibri Light" panose="020F0302020204030204" pitchFamily="34" charset="0"/>
            </a:endParaRPr>
          </a:p>
        </p:txBody>
      </p:sp>
      <p:sp>
        <p:nvSpPr>
          <p:cNvPr id="5" name="TextBox 4">
            <a:extLst>
              <a:ext uri="{FF2B5EF4-FFF2-40B4-BE49-F238E27FC236}">
                <a16:creationId xmlns:a16="http://schemas.microsoft.com/office/drawing/2014/main" id="{2D0358B7-966B-8A1C-CD43-5C2E1DFEE06F}"/>
              </a:ext>
            </a:extLst>
          </p:cNvPr>
          <p:cNvSpPr txBox="1"/>
          <p:nvPr/>
        </p:nvSpPr>
        <p:spPr>
          <a:xfrm>
            <a:off x="7442661" y="3237407"/>
            <a:ext cx="3884815" cy="369332"/>
          </a:xfrm>
          <a:prstGeom prst="rect">
            <a:avLst/>
          </a:prstGeom>
          <a:noFill/>
        </p:spPr>
        <p:txBody>
          <a:bodyPr wrap="square">
            <a:spAutoFit/>
          </a:bodyPr>
          <a:lstStyle/>
          <a:p>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L</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ocus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C</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ontrol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R</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egion</a:t>
            </a:r>
            <a:r>
              <a:rPr lang="en-US" b="0" i="0" dirty="0">
                <a:effectLst/>
                <a:latin typeface="ElsevierGulliver"/>
              </a:rPr>
              <a:t> (LCR) </a:t>
            </a:r>
            <a:endParaRPr lang="en-US" dirty="0"/>
          </a:p>
        </p:txBody>
      </p:sp>
      <p:sp>
        <p:nvSpPr>
          <p:cNvPr id="8" name="Rectangle 7">
            <a:extLst>
              <a:ext uri="{FF2B5EF4-FFF2-40B4-BE49-F238E27FC236}">
                <a16:creationId xmlns:a16="http://schemas.microsoft.com/office/drawing/2014/main" id="{6BAAC9AC-412D-71CA-190F-ED9ACA0B32FD}"/>
              </a:ext>
            </a:extLst>
          </p:cNvPr>
          <p:cNvSpPr/>
          <p:nvPr/>
        </p:nvSpPr>
        <p:spPr>
          <a:xfrm>
            <a:off x="4112029" y="4095404"/>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9" name="Rectangle 8">
            <a:extLst>
              <a:ext uri="{FF2B5EF4-FFF2-40B4-BE49-F238E27FC236}">
                <a16:creationId xmlns:a16="http://schemas.microsoft.com/office/drawing/2014/main" id="{2AF39078-7685-0582-550B-0BB70AE3B785}"/>
              </a:ext>
            </a:extLst>
          </p:cNvPr>
          <p:cNvSpPr/>
          <p:nvPr/>
        </p:nvSpPr>
        <p:spPr>
          <a:xfrm>
            <a:off x="5192683" y="4095404"/>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10" name="Rectangle 9">
            <a:extLst>
              <a:ext uri="{FF2B5EF4-FFF2-40B4-BE49-F238E27FC236}">
                <a16:creationId xmlns:a16="http://schemas.microsoft.com/office/drawing/2014/main" id="{9CC7B639-F6E7-B688-7101-7339C798C1A0}"/>
              </a:ext>
            </a:extLst>
          </p:cNvPr>
          <p:cNvSpPr/>
          <p:nvPr/>
        </p:nvSpPr>
        <p:spPr>
          <a:xfrm>
            <a:off x="4851861" y="5717967"/>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11" name="Rectangle 10">
            <a:extLst>
              <a:ext uri="{FF2B5EF4-FFF2-40B4-BE49-F238E27FC236}">
                <a16:creationId xmlns:a16="http://schemas.microsoft.com/office/drawing/2014/main" id="{7538C765-68B5-6BEA-38F9-28C71DC1A15B}"/>
              </a:ext>
            </a:extLst>
          </p:cNvPr>
          <p:cNvSpPr/>
          <p:nvPr/>
        </p:nvSpPr>
        <p:spPr>
          <a:xfrm>
            <a:off x="2172392" y="5249683"/>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Tree>
    <p:extLst>
      <p:ext uri="{BB962C8B-B14F-4D97-AF65-F5344CB8AC3E}">
        <p14:creationId xmlns:p14="http://schemas.microsoft.com/office/powerpoint/2010/main" val="1960162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117959"/>
            <a:ext cx="11532524" cy="430679"/>
          </a:xfrm>
        </p:spPr>
        <p:txBody>
          <a:bodyPr>
            <a:noAutofit/>
          </a:bodyPr>
          <a:lstStyle/>
          <a:p>
            <a:pPr algn="ctr"/>
            <a:r>
              <a:rPr lang="en-GB" sz="2600" b="1" i="0" dirty="0">
                <a:solidFill>
                  <a:schemeClr val="tx1"/>
                </a:solidFill>
                <a:effectLst/>
              </a:rPr>
              <a:t>The </a:t>
            </a:r>
            <a:r>
              <a:rPr lang="en-GB" sz="2600" b="1" i="0" dirty="0" err="1">
                <a:solidFill>
                  <a:schemeClr val="tx1"/>
                </a:solidFill>
                <a:effectLst/>
              </a:rPr>
              <a:t>Fetal</a:t>
            </a:r>
            <a:r>
              <a:rPr lang="en-GB" sz="2600" b="1" i="0" dirty="0">
                <a:solidFill>
                  <a:schemeClr val="tx1"/>
                </a:solidFill>
                <a:effectLst/>
              </a:rPr>
              <a:t>-to-Adult </a:t>
            </a:r>
            <a:r>
              <a:rPr lang="en-GB" sz="2600" b="1" i="0" dirty="0" err="1">
                <a:solidFill>
                  <a:schemeClr val="tx1"/>
                </a:solidFill>
                <a:effectLst/>
              </a:rPr>
              <a:t>Hemoglobin</a:t>
            </a:r>
            <a:r>
              <a:rPr lang="en-GB" sz="2600" b="1" i="0" dirty="0">
                <a:solidFill>
                  <a:schemeClr val="tx1"/>
                </a:solidFill>
                <a:effectLst/>
              </a:rPr>
              <a:t> Switch — Mechanism and Therapy</a:t>
            </a:r>
            <a:endParaRPr lang="en-US" sz="2600" b="1" dirty="0">
              <a:solidFill>
                <a:schemeClr val="tx1"/>
              </a:solidFill>
            </a:endParaRPr>
          </a:p>
        </p:txBody>
      </p:sp>
      <p:pic>
        <p:nvPicPr>
          <p:cNvPr id="3074" name="Picture 2" descr="A figure showing hemoglobin switching">
            <a:extLst>
              <a:ext uri="{FF2B5EF4-FFF2-40B4-BE49-F238E27FC236}">
                <a16:creationId xmlns:a16="http://schemas.microsoft.com/office/drawing/2014/main" id="{01F4F47B-A788-078E-D6B9-00754722D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345" y="807524"/>
            <a:ext cx="5932517" cy="59325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B5F3A6-3AF4-D9BB-DD36-6C900EA4AA77}"/>
              </a:ext>
            </a:extLst>
          </p:cNvPr>
          <p:cNvSpPr txBox="1"/>
          <p:nvPr/>
        </p:nvSpPr>
        <p:spPr>
          <a:xfrm>
            <a:off x="9570720" y="6432264"/>
            <a:ext cx="2510444" cy="307777"/>
          </a:xfrm>
          <a:prstGeom prst="rect">
            <a:avLst/>
          </a:prstGeom>
          <a:noFill/>
        </p:spPr>
        <p:txBody>
          <a:bodyPr wrap="square">
            <a:spAutoFit/>
          </a:bodyPr>
          <a:lstStyle/>
          <a:p>
            <a:r>
              <a:rPr lang="en-US" sz="1400" b="1" i="0" dirty="0">
                <a:effectLst/>
                <a:latin typeface="Calibri Light" panose="020F0302020204030204" pitchFamily="34" charset="0"/>
              </a:rPr>
              <a:t>DOI: 10.1056/NEJMra2405260</a:t>
            </a:r>
            <a:endParaRPr lang="en-US" sz="1400" dirty="0">
              <a:latin typeface="Calibri Light" panose="020F0302020204030204" pitchFamily="34" charset="0"/>
            </a:endParaRPr>
          </a:p>
        </p:txBody>
      </p:sp>
      <p:sp>
        <p:nvSpPr>
          <p:cNvPr id="5" name="TextBox 4">
            <a:extLst>
              <a:ext uri="{FF2B5EF4-FFF2-40B4-BE49-F238E27FC236}">
                <a16:creationId xmlns:a16="http://schemas.microsoft.com/office/drawing/2014/main" id="{2D0358B7-966B-8A1C-CD43-5C2E1DFEE06F}"/>
              </a:ext>
            </a:extLst>
          </p:cNvPr>
          <p:cNvSpPr txBox="1"/>
          <p:nvPr/>
        </p:nvSpPr>
        <p:spPr>
          <a:xfrm>
            <a:off x="7442661" y="3237407"/>
            <a:ext cx="3884815" cy="369332"/>
          </a:xfrm>
          <a:prstGeom prst="rect">
            <a:avLst/>
          </a:prstGeom>
          <a:noFill/>
        </p:spPr>
        <p:txBody>
          <a:bodyPr wrap="square">
            <a:spAutoFit/>
          </a:bodyPr>
          <a:lstStyle/>
          <a:p>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L</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ocus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C</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ontrol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R</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egion</a:t>
            </a:r>
            <a:r>
              <a:rPr lang="en-US" b="0" i="0" dirty="0">
                <a:effectLst/>
                <a:latin typeface="ElsevierGulliver"/>
              </a:rPr>
              <a:t> (LCR) </a:t>
            </a:r>
            <a:endParaRPr lang="en-US" dirty="0"/>
          </a:p>
        </p:txBody>
      </p:sp>
    </p:spTree>
    <p:extLst>
      <p:ext uri="{BB962C8B-B14F-4D97-AF65-F5344CB8AC3E}">
        <p14:creationId xmlns:p14="http://schemas.microsoft.com/office/powerpoint/2010/main" val="2102085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2BE099-6B27-9F55-9FD5-C28CEAE85BF7}"/>
              </a:ext>
            </a:extLst>
          </p:cNvPr>
          <p:cNvPicPr>
            <a:picLocks noChangeAspect="1"/>
          </p:cNvPicPr>
          <p:nvPr/>
        </p:nvPicPr>
        <p:blipFill>
          <a:blip r:embed="rId3"/>
          <a:stretch>
            <a:fillRect/>
          </a:stretch>
        </p:blipFill>
        <p:spPr>
          <a:xfrm>
            <a:off x="1317206" y="158285"/>
            <a:ext cx="9144443" cy="6165835"/>
          </a:xfrm>
          <a:prstGeom prst="rect">
            <a:avLst/>
          </a:prstGeom>
        </p:spPr>
      </p:pic>
      <p:sp>
        <p:nvSpPr>
          <p:cNvPr id="7" name="TextBox 6">
            <a:extLst>
              <a:ext uri="{FF2B5EF4-FFF2-40B4-BE49-F238E27FC236}">
                <a16:creationId xmlns:a16="http://schemas.microsoft.com/office/drawing/2014/main" id="{9FFAC193-74F2-7B86-28EA-0FE71DC149C3}"/>
              </a:ext>
            </a:extLst>
          </p:cNvPr>
          <p:cNvSpPr txBox="1"/>
          <p:nvPr/>
        </p:nvSpPr>
        <p:spPr>
          <a:xfrm>
            <a:off x="5439544" y="6400718"/>
            <a:ext cx="6096946" cy="307777"/>
          </a:xfrm>
          <a:prstGeom prst="rect">
            <a:avLst/>
          </a:prstGeom>
          <a:noFill/>
        </p:spPr>
        <p:txBody>
          <a:bodyPr wrap="square">
            <a:spAutoFit/>
          </a:bodyPr>
          <a:lstStyle/>
          <a:p>
            <a:pPr algn="r"/>
            <a:r>
              <a:rPr lang="en-US" sz="1400" b="0" i="0" dirty="0">
                <a:effectLst/>
                <a:latin typeface="Calibri Light" panose="020F0302020204030204" pitchFamily="34" charset="0"/>
              </a:rPr>
              <a:t>DOI:</a:t>
            </a:r>
            <a:r>
              <a:rPr lang="en-US" sz="1400" b="0" i="0" u="sng" dirty="0">
                <a:effectLst/>
                <a:latin typeface="Calibri Light" panose="020F0302020204030204" pitchFamily="34" charset="0"/>
                <a:hlinkClick r:id="rId4">
                  <a:extLst>
                    <a:ext uri="{A12FA001-AC4F-418D-AE19-62706E023703}">
                      <ahyp:hlinkClr xmlns:ahyp="http://schemas.microsoft.com/office/drawing/2018/hyperlinkcolor" val="tx"/>
                    </a:ext>
                  </a:extLst>
                </a:hlinkClick>
              </a:rPr>
              <a:t>10.23880/OAJPR-16000143</a:t>
            </a:r>
            <a:endParaRPr lang="en-US" sz="1400" dirty="0">
              <a:latin typeface="Calibri Light" panose="020F0302020204030204" pitchFamily="34" charset="0"/>
            </a:endParaRPr>
          </a:p>
        </p:txBody>
      </p:sp>
      <p:sp>
        <p:nvSpPr>
          <p:cNvPr id="2" name="Rectangle 1">
            <a:extLst>
              <a:ext uri="{FF2B5EF4-FFF2-40B4-BE49-F238E27FC236}">
                <a16:creationId xmlns:a16="http://schemas.microsoft.com/office/drawing/2014/main" id="{3B0E45FD-19FA-EC89-A4B3-591E38BF3263}"/>
              </a:ext>
            </a:extLst>
          </p:cNvPr>
          <p:cNvSpPr/>
          <p:nvPr/>
        </p:nvSpPr>
        <p:spPr>
          <a:xfrm>
            <a:off x="1529976" y="5193553"/>
            <a:ext cx="2020048" cy="986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3" name="Rectangle 2">
            <a:extLst>
              <a:ext uri="{FF2B5EF4-FFF2-40B4-BE49-F238E27FC236}">
                <a16:creationId xmlns:a16="http://schemas.microsoft.com/office/drawing/2014/main" id="{564613F8-306D-855D-8829-446DD8995537}"/>
              </a:ext>
            </a:extLst>
          </p:cNvPr>
          <p:cNvSpPr/>
          <p:nvPr/>
        </p:nvSpPr>
        <p:spPr>
          <a:xfrm>
            <a:off x="5555129" y="3170516"/>
            <a:ext cx="2020048" cy="1473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4" name="Rectangle 3">
            <a:extLst>
              <a:ext uri="{FF2B5EF4-FFF2-40B4-BE49-F238E27FC236}">
                <a16:creationId xmlns:a16="http://schemas.microsoft.com/office/drawing/2014/main" id="{796FA640-057B-ADE7-C625-C79A56DF64C0}"/>
              </a:ext>
            </a:extLst>
          </p:cNvPr>
          <p:cNvSpPr/>
          <p:nvPr/>
        </p:nvSpPr>
        <p:spPr>
          <a:xfrm>
            <a:off x="5779247" y="5056094"/>
            <a:ext cx="1873624" cy="1123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Tree>
    <p:extLst>
      <p:ext uri="{BB962C8B-B14F-4D97-AF65-F5344CB8AC3E}">
        <p14:creationId xmlns:p14="http://schemas.microsoft.com/office/powerpoint/2010/main" val="3533325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2BE099-6B27-9F55-9FD5-C28CEAE85BF7}"/>
              </a:ext>
            </a:extLst>
          </p:cNvPr>
          <p:cNvPicPr>
            <a:picLocks noChangeAspect="1"/>
          </p:cNvPicPr>
          <p:nvPr/>
        </p:nvPicPr>
        <p:blipFill>
          <a:blip r:embed="rId3"/>
          <a:stretch>
            <a:fillRect/>
          </a:stretch>
        </p:blipFill>
        <p:spPr>
          <a:xfrm>
            <a:off x="1317206" y="158285"/>
            <a:ext cx="9144443" cy="6165835"/>
          </a:xfrm>
          <a:prstGeom prst="rect">
            <a:avLst/>
          </a:prstGeom>
        </p:spPr>
      </p:pic>
      <p:sp>
        <p:nvSpPr>
          <p:cNvPr id="7" name="TextBox 6">
            <a:extLst>
              <a:ext uri="{FF2B5EF4-FFF2-40B4-BE49-F238E27FC236}">
                <a16:creationId xmlns:a16="http://schemas.microsoft.com/office/drawing/2014/main" id="{9FFAC193-74F2-7B86-28EA-0FE71DC149C3}"/>
              </a:ext>
            </a:extLst>
          </p:cNvPr>
          <p:cNvSpPr txBox="1"/>
          <p:nvPr/>
        </p:nvSpPr>
        <p:spPr>
          <a:xfrm>
            <a:off x="5439544" y="6400718"/>
            <a:ext cx="6096946" cy="307777"/>
          </a:xfrm>
          <a:prstGeom prst="rect">
            <a:avLst/>
          </a:prstGeom>
          <a:noFill/>
        </p:spPr>
        <p:txBody>
          <a:bodyPr wrap="square">
            <a:spAutoFit/>
          </a:bodyPr>
          <a:lstStyle/>
          <a:p>
            <a:pPr algn="r"/>
            <a:r>
              <a:rPr lang="en-US" sz="1400" b="0" i="0" dirty="0">
                <a:effectLst/>
                <a:latin typeface="Calibri Light" panose="020F0302020204030204" pitchFamily="34" charset="0"/>
              </a:rPr>
              <a:t>DOI:</a:t>
            </a:r>
            <a:r>
              <a:rPr lang="en-US" sz="1400" b="0" i="0" u="sng" dirty="0">
                <a:effectLst/>
                <a:latin typeface="Calibri Light" panose="020F0302020204030204" pitchFamily="34" charset="0"/>
                <a:hlinkClick r:id="rId4">
                  <a:extLst>
                    <a:ext uri="{A12FA001-AC4F-418D-AE19-62706E023703}">
                      <ahyp:hlinkClr xmlns:ahyp="http://schemas.microsoft.com/office/drawing/2018/hyperlinkcolor" val="tx"/>
                    </a:ext>
                  </a:extLst>
                </a:hlinkClick>
              </a:rPr>
              <a:t>10.23880/OAJPR-16000143</a:t>
            </a:r>
            <a:endParaRPr lang="en-US" sz="1400" dirty="0">
              <a:latin typeface="Calibri Light" panose="020F0302020204030204" pitchFamily="34" charset="0"/>
            </a:endParaRPr>
          </a:p>
        </p:txBody>
      </p:sp>
    </p:spTree>
    <p:extLst>
      <p:ext uri="{BB962C8B-B14F-4D97-AF65-F5344CB8AC3E}">
        <p14:creationId xmlns:p14="http://schemas.microsoft.com/office/powerpoint/2010/main" val="1716731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910243" y="2404514"/>
            <a:ext cx="10515600" cy="1325563"/>
          </a:xfrm>
        </p:spPr>
        <p:txBody>
          <a:bodyPr>
            <a:normAutofit/>
          </a:bodyPr>
          <a:lstStyle/>
          <a:p>
            <a:pPr algn="ctr"/>
            <a:r>
              <a:rPr lang="en-GB" sz="6600" b="1" dirty="0"/>
              <a:t>Interpretation</a:t>
            </a:r>
            <a:endParaRPr lang="en-US" sz="6600" b="1" dirty="0">
              <a:solidFill>
                <a:srgbClr val="7030A0"/>
              </a:solidFill>
            </a:endParaRPr>
          </a:p>
        </p:txBody>
      </p:sp>
    </p:spTree>
    <p:extLst>
      <p:ext uri="{BB962C8B-B14F-4D97-AF65-F5344CB8AC3E}">
        <p14:creationId xmlns:p14="http://schemas.microsoft.com/office/powerpoint/2010/main" val="3598373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63006" y="157299"/>
            <a:ext cx="9404723" cy="813895"/>
          </a:xfrm>
        </p:spPr>
        <p:txBody>
          <a:bodyPr/>
          <a:lstStyle/>
          <a:p>
            <a:pPr algn="ctr"/>
            <a:r>
              <a:rPr lang="en-US" sz="4400" b="1" dirty="0"/>
              <a:t>Components of transcriptional regulation</a:t>
            </a:r>
          </a:p>
        </p:txBody>
      </p:sp>
      <p:pic>
        <p:nvPicPr>
          <p:cNvPr id="4" name="Picture 3">
            <a:extLst>
              <a:ext uri="{FF2B5EF4-FFF2-40B4-BE49-F238E27FC236}">
                <a16:creationId xmlns:a16="http://schemas.microsoft.com/office/drawing/2014/main" id="{0BA72ECB-B24A-63D4-99CE-0C36BA9646B3}"/>
              </a:ext>
            </a:extLst>
          </p:cNvPr>
          <p:cNvPicPr>
            <a:picLocks noChangeAspect="1"/>
          </p:cNvPicPr>
          <p:nvPr/>
        </p:nvPicPr>
        <p:blipFill>
          <a:blip r:embed="rId2"/>
          <a:stretch>
            <a:fillRect/>
          </a:stretch>
        </p:blipFill>
        <p:spPr>
          <a:xfrm>
            <a:off x="1989417" y="971194"/>
            <a:ext cx="7951899" cy="5595389"/>
          </a:xfrm>
          <a:prstGeom prst="rect">
            <a:avLst/>
          </a:prstGeom>
        </p:spPr>
      </p:pic>
    </p:spTree>
    <p:extLst>
      <p:ext uri="{BB962C8B-B14F-4D97-AF65-F5344CB8AC3E}">
        <p14:creationId xmlns:p14="http://schemas.microsoft.com/office/powerpoint/2010/main" val="4116705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63006" y="157299"/>
            <a:ext cx="9404723" cy="813895"/>
          </a:xfrm>
        </p:spPr>
        <p:txBody>
          <a:bodyPr/>
          <a:lstStyle/>
          <a:p>
            <a:pPr algn="ctr"/>
            <a:r>
              <a:rPr lang="en-US" sz="4400" b="1" dirty="0"/>
              <a:t>Components of transcriptional regulation</a:t>
            </a:r>
          </a:p>
        </p:txBody>
      </p:sp>
      <p:pic>
        <p:nvPicPr>
          <p:cNvPr id="4" name="Picture 3">
            <a:extLst>
              <a:ext uri="{FF2B5EF4-FFF2-40B4-BE49-F238E27FC236}">
                <a16:creationId xmlns:a16="http://schemas.microsoft.com/office/drawing/2014/main" id="{0BA72ECB-B24A-63D4-99CE-0C36BA9646B3}"/>
              </a:ext>
            </a:extLst>
          </p:cNvPr>
          <p:cNvPicPr>
            <a:picLocks noChangeAspect="1"/>
          </p:cNvPicPr>
          <p:nvPr/>
        </p:nvPicPr>
        <p:blipFill>
          <a:blip r:embed="rId2"/>
          <a:stretch>
            <a:fillRect/>
          </a:stretch>
        </p:blipFill>
        <p:spPr>
          <a:xfrm>
            <a:off x="325513" y="1339966"/>
            <a:ext cx="7285027" cy="5126142"/>
          </a:xfrm>
          <a:prstGeom prst="rect">
            <a:avLst/>
          </a:prstGeom>
        </p:spPr>
      </p:pic>
      <p:sp>
        <p:nvSpPr>
          <p:cNvPr id="6" name="TextBox 5">
            <a:extLst>
              <a:ext uri="{FF2B5EF4-FFF2-40B4-BE49-F238E27FC236}">
                <a16:creationId xmlns:a16="http://schemas.microsoft.com/office/drawing/2014/main" id="{5A58F71A-5870-306F-18ED-C036ED8E5F24}"/>
              </a:ext>
            </a:extLst>
          </p:cNvPr>
          <p:cNvSpPr txBox="1"/>
          <p:nvPr/>
        </p:nvSpPr>
        <p:spPr>
          <a:xfrm>
            <a:off x="7703816" y="1366897"/>
            <a:ext cx="4062263" cy="4693593"/>
          </a:xfrm>
          <a:prstGeom prst="rect">
            <a:avLst/>
          </a:prstGeom>
          <a:noFill/>
        </p:spPr>
        <p:txBody>
          <a:bodyPr wrap="square">
            <a:spAutoFit/>
          </a:bodyPr>
          <a:lstStyle/>
          <a:p>
            <a:pPr algn="just"/>
            <a:r>
              <a:rPr lang="en-GB" sz="2300" b="1" dirty="0">
                <a:latin typeface="Calibri Light" panose="020F0302020204030204" pitchFamily="34" charset="0"/>
                <a:ea typeface="Calibri Light" panose="020F0302020204030204" pitchFamily="34" charset="0"/>
                <a:cs typeface="Calibri Light" panose="020F0302020204030204" pitchFamily="34" charset="0"/>
              </a:rPr>
              <a:t>Basal is Insufficient: As noted, the GTFs + RNAPII alone are inefficient in vivo due to chromatin and the need for precise signals.</a:t>
            </a:r>
          </a:p>
          <a:p>
            <a:pPr algn="just"/>
            <a:r>
              <a:rPr lang="en-GB" sz="2300" b="1" dirty="0">
                <a:latin typeface="Calibri Light" panose="020F0302020204030204" pitchFamily="34" charset="0"/>
                <a:ea typeface="Calibri Light" panose="020F0302020204030204" pitchFamily="34" charset="0"/>
                <a:cs typeface="Calibri Light" panose="020F0302020204030204" pitchFamily="34" charset="0"/>
              </a:rPr>
              <a:t>The Bridge: The Mediator Complex</a:t>
            </a:r>
          </a:p>
          <a:p>
            <a:pPr algn="just"/>
            <a:r>
              <a:rPr lang="en-GB" sz="2300" b="1" dirty="0">
                <a:latin typeface="Calibri Light" panose="020F0302020204030204" pitchFamily="34" charset="0"/>
                <a:ea typeface="Calibri Light" panose="020F0302020204030204" pitchFamily="34" charset="0"/>
                <a:cs typeface="Calibri Light" panose="020F0302020204030204" pitchFamily="34" charset="0"/>
              </a:rPr>
              <a:t>Significance: Mediator integrates signals from multiple regulatory proteins and transmits them to the basal machinery to stabilize the PIC and greatly stimulate transcription rates.</a:t>
            </a:r>
          </a:p>
        </p:txBody>
      </p:sp>
    </p:spTree>
    <p:extLst>
      <p:ext uri="{BB962C8B-B14F-4D97-AF65-F5344CB8AC3E}">
        <p14:creationId xmlns:p14="http://schemas.microsoft.com/office/powerpoint/2010/main" val="2785645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 Principles of nuclear receptor </a:t>
            </a:r>
            <a:r>
              <a:rPr lang="en-GB" sz="5400" b="1" dirty="0" err="1">
                <a:latin typeface="Calibri Light" panose="020F0302020204030204" pitchFamily="34" charset="0"/>
                <a:ea typeface="Calibri Light" panose="020F0302020204030204" pitchFamily="34" charset="0"/>
                <a:cs typeface="Calibri Light" panose="020F0302020204030204" pitchFamily="34" charset="0"/>
              </a:rPr>
              <a:t>signaling</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BC1E00A8-26DD-42B9-34B9-995D119E29F7}"/>
              </a:ext>
            </a:extLst>
          </p:cNvPr>
          <p:cNvPicPr>
            <a:picLocks noChangeAspect="1"/>
          </p:cNvPicPr>
          <p:nvPr/>
        </p:nvPicPr>
        <p:blipFill>
          <a:blip r:embed="rId3"/>
          <a:stretch>
            <a:fillRect/>
          </a:stretch>
        </p:blipFill>
        <p:spPr>
          <a:xfrm>
            <a:off x="2090191" y="1161039"/>
            <a:ext cx="7496810" cy="5572012"/>
          </a:xfrm>
          <a:prstGeom prst="rect">
            <a:avLst/>
          </a:prstGeom>
        </p:spPr>
      </p:pic>
    </p:spTree>
    <p:extLst>
      <p:ext uri="{BB962C8B-B14F-4D97-AF65-F5344CB8AC3E}">
        <p14:creationId xmlns:p14="http://schemas.microsoft.com/office/powerpoint/2010/main" val="3569318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71AAB8-7EF7-7D81-27EC-B8D089BB0DD4}"/>
              </a:ext>
            </a:extLst>
          </p:cNvPr>
          <p:cNvPicPr>
            <a:picLocks noChangeAspect="1"/>
          </p:cNvPicPr>
          <p:nvPr/>
        </p:nvPicPr>
        <p:blipFill>
          <a:blip r:embed="rId3"/>
          <a:stretch>
            <a:fillRect/>
          </a:stretch>
        </p:blipFill>
        <p:spPr>
          <a:xfrm>
            <a:off x="15900" y="0"/>
            <a:ext cx="8877441" cy="6858000"/>
          </a:xfrm>
          <a:prstGeom prst="rect">
            <a:avLst/>
          </a:prstGeom>
        </p:spPr>
      </p:pic>
      <p:sp>
        <p:nvSpPr>
          <p:cNvPr id="7" name="TextBox 6">
            <a:extLst>
              <a:ext uri="{FF2B5EF4-FFF2-40B4-BE49-F238E27FC236}">
                <a16:creationId xmlns:a16="http://schemas.microsoft.com/office/drawing/2014/main" id="{943EE72D-FAAF-D964-2839-742D2534076B}"/>
              </a:ext>
            </a:extLst>
          </p:cNvPr>
          <p:cNvSpPr txBox="1"/>
          <p:nvPr/>
        </p:nvSpPr>
        <p:spPr>
          <a:xfrm>
            <a:off x="9121282" y="2231068"/>
            <a:ext cx="2852529" cy="2308324"/>
          </a:xfrm>
          <a:prstGeom prst="rect">
            <a:avLst/>
          </a:prstGeom>
          <a:noFill/>
        </p:spPr>
        <p:txBody>
          <a:bodyPr wrap="square">
            <a:spAutoFit/>
          </a:bodyPr>
          <a:lstStyle/>
          <a:p>
            <a:pPr algn="just"/>
            <a:r>
              <a:rPr lang="en-GB" b="1" dirty="0">
                <a:latin typeface="Calibri Light" panose="020F0302020204030204" pitchFamily="34" charset="0"/>
              </a:rPr>
              <a:t>Interaction of nuclear receptors with cofactors. </a:t>
            </a:r>
          </a:p>
          <a:p>
            <a:pPr algn="just"/>
            <a:r>
              <a:rPr lang="en-GB" dirty="0">
                <a:latin typeface="Calibri Light" panose="020F0302020204030204" pitchFamily="34" charset="0"/>
              </a:rPr>
              <a:t>A solvent excluded surface (Connolly surface) representation of a nuclear receptor LBD in the absence (top) and presence (bottom) of a ligand</a:t>
            </a:r>
            <a:endParaRPr lang="en-US" dirty="0">
              <a:latin typeface="Calibri Light" panose="020F0302020204030204" pitchFamily="34" charset="0"/>
            </a:endParaRPr>
          </a:p>
        </p:txBody>
      </p:sp>
    </p:spTree>
    <p:extLst>
      <p:ext uri="{BB962C8B-B14F-4D97-AF65-F5344CB8AC3E}">
        <p14:creationId xmlns:p14="http://schemas.microsoft.com/office/powerpoint/2010/main" val="2020705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ED51E-5043-B19F-3701-9A60F719FCEE}"/>
              </a:ext>
            </a:extLst>
          </p:cNvPr>
          <p:cNvSpPr>
            <a:spLocks noGrp="1"/>
          </p:cNvSpPr>
          <p:nvPr>
            <p:ph type="title"/>
          </p:nvPr>
        </p:nvSpPr>
        <p:spPr>
          <a:xfrm>
            <a:off x="1207899" y="246530"/>
            <a:ext cx="9404723" cy="730623"/>
          </a:xfrm>
        </p:spPr>
        <p:txBody>
          <a:bodyPr/>
          <a:lstStyle/>
          <a:p>
            <a:pPr algn="ctr"/>
            <a:r>
              <a:rPr lang="en-GB" dirty="0"/>
              <a:t>Transcription Factor Binding Sites Motifs</a:t>
            </a:r>
            <a:endParaRPr lang="en-US" dirty="0"/>
          </a:p>
        </p:txBody>
      </p:sp>
      <p:pic>
        <p:nvPicPr>
          <p:cNvPr id="1026" name="Picture 2" descr="Figure 6">
            <a:extLst>
              <a:ext uri="{FF2B5EF4-FFF2-40B4-BE49-F238E27FC236}">
                <a16:creationId xmlns:a16="http://schemas.microsoft.com/office/drawing/2014/main" id="{8B7CBEB6-E634-8433-2072-3F78A93F7B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404" b="37167"/>
          <a:stretch/>
        </p:blipFill>
        <p:spPr bwMode="auto">
          <a:xfrm>
            <a:off x="812425" y="1386540"/>
            <a:ext cx="3670300" cy="393849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igure 6">
            <a:extLst>
              <a:ext uri="{FF2B5EF4-FFF2-40B4-BE49-F238E27FC236}">
                <a16:creationId xmlns:a16="http://schemas.microsoft.com/office/drawing/2014/main" id="{15AC84CA-5C10-9432-8AC6-E54F6807AC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4924" b="6492"/>
          <a:stretch/>
        </p:blipFill>
        <p:spPr bwMode="auto">
          <a:xfrm>
            <a:off x="4601553" y="1386540"/>
            <a:ext cx="3670300" cy="19602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FDE7DA6-519D-9CEA-D2DB-548BBEDFC73F}"/>
              </a:ext>
            </a:extLst>
          </p:cNvPr>
          <p:cNvSpPr txBox="1"/>
          <p:nvPr/>
        </p:nvSpPr>
        <p:spPr>
          <a:xfrm>
            <a:off x="848664" y="6319682"/>
            <a:ext cx="7954682" cy="338554"/>
          </a:xfrm>
          <a:prstGeom prst="rect">
            <a:avLst/>
          </a:prstGeom>
          <a:noFill/>
        </p:spPr>
        <p:txBody>
          <a:bodyPr wrap="square">
            <a:spAutoFit/>
          </a:bodyPr>
          <a:lstStyle/>
          <a:p>
            <a:r>
              <a:rPr lang="en-US" sz="1600" dirty="0"/>
              <a:t>https://link.springer.com/article/10.1186/1471-2164-12-128</a:t>
            </a:r>
          </a:p>
        </p:txBody>
      </p:sp>
      <p:sp>
        <p:nvSpPr>
          <p:cNvPr id="9" name="TextBox 8">
            <a:extLst>
              <a:ext uri="{FF2B5EF4-FFF2-40B4-BE49-F238E27FC236}">
                <a16:creationId xmlns:a16="http://schemas.microsoft.com/office/drawing/2014/main" id="{8EF46660-B5EA-AE82-CF47-F6B17994E415}"/>
              </a:ext>
            </a:extLst>
          </p:cNvPr>
          <p:cNvSpPr txBox="1"/>
          <p:nvPr/>
        </p:nvSpPr>
        <p:spPr>
          <a:xfrm>
            <a:off x="5068047" y="3815969"/>
            <a:ext cx="6735482" cy="2308324"/>
          </a:xfrm>
          <a:prstGeom prst="rect">
            <a:avLst/>
          </a:prstGeom>
          <a:noFill/>
        </p:spPr>
        <p:txBody>
          <a:bodyPr wrap="square">
            <a:spAutoFit/>
          </a:bodyPr>
          <a:lstStyle/>
          <a:p>
            <a:pPr algn="just"/>
            <a:r>
              <a:rPr lang="en-US" dirty="0"/>
              <a:t>Sequence logos of ETS transcription factor binding sites. Sequence logos of consensus DNA binding sites for the three ETS transcription factors enriched in genes regulated by HNF4</a:t>
            </a:r>
            <a:r>
              <a:rPr lang="el-GR" dirty="0"/>
              <a:t>α. </a:t>
            </a:r>
            <a:r>
              <a:rPr lang="en-US" dirty="0"/>
              <a:t>Y axis indicates amount of information at each position in the motif. These logos were generated from information obtained from the JASPAR core database [42]. (A), ELK1 binding motif; (B), ELK4 binding motif; and (C), GABPA binding motif.</a:t>
            </a:r>
          </a:p>
        </p:txBody>
      </p:sp>
    </p:spTree>
    <p:extLst>
      <p:ext uri="{BB962C8B-B14F-4D97-AF65-F5344CB8AC3E}">
        <p14:creationId xmlns:p14="http://schemas.microsoft.com/office/powerpoint/2010/main" val="886953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E7DA6-519D-9CEA-D2DB-548BBEDFC73F}"/>
              </a:ext>
            </a:extLst>
          </p:cNvPr>
          <p:cNvSpPr txBox="1"/>
          <p:nvPr/>
        </p:nvSpPr>
        <p:spPr>
          <a:xfrm>
            <a:off x="5199539" y="6368879"/>
            <a:ext cx="6215521" cy="338554"/>
          </a:xfrm>
          <a:prstGeom prst="rect">
            <a:avLst/>
          </a:prstGeom>
          <a:noFill/>
        </p:spPr>
        <p:txBody>
          <a:bodyPr wrap="square">
            <a:spAutoFit/>
          </a:bodyPr>
          <a:lstStyle/>
          <a:p>
            <a:pPr algn="r"/>
            <a:r>
              <a:rPr lang="en-US" sz="1600" dirty="0"/>
              <a:t>https://academic.oup.com/nar/article/40/4/e31/2411061</a:t>
            </a:r>
          </a:p>
        </p:txBody>
      </p:sp>
      <p:pic>
        <p:nvPicPr>
          <p:cNvPr id="2050" name="Picture 2">
            <a:extLst>
              <a:ext uri="{FF2B5EF4-FFF2-40B4-BE49-F238E27FC236}">
                <a16:creationId xmlns:a16="http://schemas.microsoft.com/office/drawing/2014/main" id="{55A7970F-B244-727A-D096-C5B53FC37F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5512"/>
          <a:stretch/>
        </p:blipFill>
        <p:spPr bwMode="auto">
          <a:xfrm>
            <a:off x="971015" y="489121"/>
            <a:ext cx="5032190" cy="560539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90BB4B0-F17B-50C4-DBC3-8109B750CD33}"/>
              </a:ext>
            </a:extLst>
          </p:cNvPr>
          <p:cNvSpPr txBox="1"/>
          <p:nvPr/>
        </p:nvSpPr>
        <p:spPr>
          <a:xfrm>
            <a:off x="6266496" y="444276"/>
            <a:ext cx="5080000" cy="5632311"/>
          </a:xfrm>
          <a:prstGeom prst="rect">
            <a:avLst/>
          </a:prstGeom>
          <a:noFill/>
        </p:spPr>
        <p:txBody>
          <a:bodyPr wrap="square">
            <a:spAutoFit/>
          </a:bodyPr>
          <a:lstStyle/>
          <a:p>
            <a:pPr algn="just"/>
            <a:r>
              <a:rPr lang="en-GB" sz="2000" dirty="0"/>
              <a:t>In the Sox2 and Oct4 peak sets, peak-motifs found not only the composite ‘SOCT’ motif bound by the Sox2/Oct4 complex (reported by Chen and co-workers), but also the distinct motifs recognized by Sox2 (CTCTTTGTT) and Oct4 (</a:t>
            </a:r>
            <a:r>
              <a:rPr lang="en-GB" sz="2000" dirty="0" err="1"/>
              <a:t>ATGyAAAt</a:t>
            </a:r>
            <a:r>
              <a:rPr lang="en-GB" sz="2000" dirty="0"/>
              <a:t>), respectively ( Figure 4 , top). Interestingly, in the Oct4 data set, unknown motifs were returned with a high significance, (i.e. motifs with no significant similarity with the consensus encompassed by the common databases). Such motifs may reveal alternative consensus, as in the case of the motif </a:t>
            </a:r>
            <a:r>
              <a:rPr lang="en-GB" sz="2000" dirty="0" err="1"/>
              <a:t>crTATGCGCATAyg</a:t>
            </a:r>
            <a:r>
              <a:rPr lang="en-GB" sz="2000" dirty="0"/>
              <a:t>, which actually corresponds to an alternative Oct4 motif, also detected in other recent studies</a:t>
            </a:r>
            <a:endParaRPr lang="en-US" sz="2000" dirty="0"/>
          </a:p>
        </p:txBody>
      </p:sp>
    </p:spTree>
    <p:extLst>
      <p:ext uri="{BB962C8B-B14F-4D97-AF65-F5344CB8AC3E}">
        <p14:creationId xmlns:p14="http://schemas.microsoft.com/office/powerpoint/2010/main" val="2206844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F501983-5480-4FE1-05BE-7AFB7DB3F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64" y="437071"/>
            <a:ext cx="7815534" cy="5861651"/>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ChIP-Seq Analysis workflow">
            <a:extLst>
              <a:ext uri="{FF2B5EF4-FFF2-40B4-BE49-F238E27FC236}">
                <a16:creationId xmlns:a16="http://schemas.microsoft.com/office/drawing/2014/main" id="{9D66E1B5-0B89-1510-1D61-281C5DDBFE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9280" y="437071"/>
            <a:ext cx="3733056" cy="49925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5813D94-AF81-3FF1-03EE-1C601AFCAD68}"/>
              </a:ext>
            </a:extLst>
          </p:cNvPr>
          <p:cNvSpPr txBox="1"/>
          <p:nvPr/>
        </p:nvSpPr>
        <p:spPr>
          <a:xfrm>
            <a:off x="8053845" y="5560613"/>
            <a:ext cx="3733055" cy="600164"/>
          </a:xfrm>
          <a:prstGeom prst="rect">
            <a:avLst/>
          </a:prstGeom>
          <a:noFill/>
        </p:spPr>
        <p:txBody>
          <a:bodyPr wrap="square">
            <a:spAutoFit/>
          </a:bodyPr>
          <a:lstStyle/>
          <a:p>
            <a:pPr algn="just"/>
            <a:r>
              <a:rPr lang="en-US" sz="1100" b="1" i="0" dirty="0">
                <a:effectLst/>
                <a:latin typeface="Calibri Light" panose="020F0302020204030204" pitchFamily="34" charset="0"/>
              </a:rPr>
              <a:t>Figure</a:t>
            </a:r>
            <a:r>
              <a:rPr lang="en-US" sz="1100" b="0" i="0" dirty="0">
                <a:effectLst/>
                <a:latin typeface="Calibri Light" panose="020F0302020204030204" pitchFamily="34" charset="0"/>
              </a:rPr>
              <a:t> from </a:t>
            </a:r>
            <a:r>
              <a:rPr lang="en-US" sz="1100" b="0" i="0" dirty="0" err="1">
                <a:effectLst/>
                <a:latin typeface="Calibri Light" panose="020F0302020204030204" pitchFamily="34" charset="0"/>
              </a:rPr>
              <a:t>Szalkowski</a:t>
            </a:r>
            <a:r>
              <a:rPr lang="en-US" sz="1100" b="0" i="0" dirty="0">
                <a:effectLst/>
                <a:latin typeface="Calibri Light" panose="020F0302020204030204" pitchFamily="34" charset="0"/>
              </a:rPr>
              <a:t>, A.M, and Schmid, C.D.(2010). </a:t>
            </a:r>
            <a:r>
              <a:rPr lang="en-US" sz="1100" b="0" i="1" dirty="0">
                <a:effectLst/>
                <a:latin typeface="Calibri Light" panose="020F0302020204030204" pitchFamily="34" charset="0"/>
              </a:rPr>
              <a:t>Rapid innovation in </a:t>
            </a:r>
            <a:r>
              <a:rPr lang="en-US" sz="1100" b="0" i="1" dirty="0" err="1">
                <a:effectLst/>
                <a:latin typeface="Calibri Light" panose="020F0302020204030204" pitchFamily="34" charset="0"/>
              </a:rPr>
              <a:t>ChIP</a:t>
            </a:r>
            <a:r>
              <a:rPr lang="en-US" sz="1100" b="0" i="1" dirty="0">
                <a:effectLst/>
                <a:latin typeface="Calibri Light" panose="020F0302020204030204" pitchFamily="34" charset="0"/>
              </a:rPr>
              <a:t>-seq peak-calling algorithms is outdistancing </a:t>
            </a:r>
            <a:r>
              <a:rPr lang="en-US" sz="1100" b="0" i="1" dirty="0" err="1">
                <a:effectLst/>
                <a:latin typeface="Calibri Light" panose="020F0302020204030204" pitchFamily="34" charset="0"/>
              </a:rPr>
              <a:t>banchmarking</a:t>
            </a:r>
            <a:r>
              <a:rPr lang="en-US" sz="1100" b="0" i="1" dirty="0">
                <a:effectLst/>
                <a:latin typeface="Calibri Light" panose="020F0302020204030204" pitchFamily="34" charset="0"/>
              </a:rPr>
              <a:t> efforts. </a:t>
            </a:r>
            <a:r>
              <a:rPr lang="en-US" sz="1100" b="0" i="0" dirty="0">
                <a:effectLst/>
                <a:latin typeface="Calibri Light" panose="020F0302020204030204" pitchFamily="34" charset="0"/>
              </a:rPr>
              <a:t>Briefings in </a:t>
            </a:r>
            <a:r>
              <a:rPr lang="en-US" sz="1100" b="0" i="0" dirty="0" err="1">
                <a:effectLst/>
                <a:latin typeface="Calibri Light" panose="020F0302020204030204" pitchFamily="34" charset="0"/>
              </a:rPr>
              <a:t>Bioinfomatics</a:t>
            </a:r>
            <a:r>
              <a:rPr lang="en-US" sz="1100" b="0" i="0" dirty="0">
                <a:effectLst/>
                <a:latin typeface="Calibri Light" panose="020F0302020204030204" pitchFamily="34" charset="0"/>
              </a:rPr>
              <a:t>.</a:t>
            </a:r>
            <a:endParaRPr lang="en-US" sz="1100" dirty="0">
              <a:latin typeface="Calibri Light" panose="020F0302020204030204" pitchFamily="34" charset="0"/>
            </a:endParaRPr>
          </a:p>
        </p:txBody>
      </p:sp>
    </p:spTree>
    <p:extLst>
      <p:ext uri="{BB962C8B-B14F-4D97-AF65-F5344CB8AC3E}">
        <p14:creationId xmlns:p14="http://schemas.microsoft.com/office/powerpoint/2010/main" val="2629816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ig. 1">
            <a:extLst>
              <a:ext uri="{FF2B5EF4-FFF2-40B4-BE49-F238E27FC236}">
                <a16:creationId xmlns:a16="http://schemas.microsoft.com/office/drawing/2014/main" id="{2B6BC2BA-17E5-7658-2BE3-948F76989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464" y="0"/>
            <a:ext cx="756126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181AB09-75B4-FF46-8FED-78BF7798843C}"/>
              </a:ext>
            </a:extLst>
          </p:cNvPr>
          <p:cNvSpPr txBox="1"/>
          <p:nvPr/>
        </p:nvSpPr>
        <p:spPr>
          <a:xfrm>
            <a:off x="5825750" y="6526315"/>
            <a:ext cx="6096946" cy="169277"/>
          </a:xfrm>
          <a:prstGeom prst="rect">
            <a:avLst/>
          </a:prstGeom>
          <a:noFill/>
        </p:spPr>
        <p:txBody>
          <a:bodyPr wrap="square">
            <a:spAutoFit/>
          </a:bodyPr>
          <a:lstStyle/>
          <a:p>
            <a:pPr algn="r"/>
            <a:r>
              <a:rPr lang="en-US" sz="500" dirty="0">
                <a:latin typeface="Calibri Light" panose="020F0302020204030204" pitchFamily="34" charset="0"/>
              </a:rPr>
              <a:t>https://www.nature.com/articles/s41467-019-13753-7/figures/1</a:t>
            </a:r>
          </a:p>
        </p:txBody>
      </p:sp>
    </p:spTree>
    <p:extLst>
      <p:ext uri="{BB962C8B-B14F-4D97-AF65-F5344CB8AC3E}">
        <p14:creationId xmlns:p14="http://schemas.microsoft.com/office/powerpoint/2010/main" val="483755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232121"/>
            <a:ext cx="11532524" cy="371937"/>
          </a:xfrm>
        </p:spPr>
        <p:txBody>
          <a:bodyPr>
            <a:noAutofit/>
          </a:bodyPr>
          <a:lstStyle/>
          <a:p>
            <a:pPr algn="ctr"/>
            <a:r>
              <a:rPr lang="en-GB" sz="2600" b="1" i="0" dirty="0">
                <a:solidFill>
                  <a:schemeClr val="tx1"/>
                </a:solidFill>
                <a:effectLst/>
              </a:rPr>
              <a:t>Epigenetic Mechanisms in Gene Regulation</a:t>
            </a:r>
            <a:endParaRPr lang="en-US" sz="2600" b="1" dirty="0">
              <a:solidFill>
                <a:schemeClr val="tx1"/>
              </a:solidFill>
            </a:endParaRPr>
          </a:p>
        </p:txBody>
      </p:sp>
      <p:sp>
        <p:nvSpPr>
          <p:cNvPr id="4" name="TextBox 3">
            <a:extLst>
              <a:ext uri="{FF2B5EF4-FFF2-40B4-BE49-F238E27FC236}">
                <a16:creationId xmlns:a16="http://schemas.microsoft.com/office/drawing/2014/main" id="{22B5F3A6-3AF4-D9BB-DD36-6C900EA4AA77}"/>
              </a:ext>
            </a:extLst>
          </p:cNvPr>
          <p:cNvSpPr txBox="1"/>
          <p:nvPr/>
        </p:nvSpPr>
        <p:spPr>
          <a:xfrm>
            <a:off x="479367" y="6193964"/>
            <a:ext cx="11382895" cy="523220"/>
          </a:xfrm>
          <a:prstGeom prst="rect">
            <a:avLst/>
          </a:prstGeom>
          <a:noFill/>
        </p:spPr>
        <p:txBody>
          <a:bodyPr wrap="square">
            <a:spAutoFit/>
          </a:bodyPr>
          <a:lstStyle/>
          <a:p>
            <a:r>
              <a:rPr lang="en-GB" sz="1400" b="0" i="0" dirty="0">
                <a:effectLst/>
                <a:latin typeface="Calibri Light" panose="020F0302020204030204" pitchFamily="34" charset="0"/>
              </a:rPr>
              <a:t>Zhang, J.; Sheng, H.; Hu, C.; Li, F.; Cai, B.; Ma, Y.; Wang, Y.; Ma, Y. Effects of DNA Methylation on Gene Expression and Phenotypic Traits in Cattle: A Review. Int. J. Mol. Sci. 2023, 24, 11882.</a:t>
            </a:r>
            <a:endParaRPr lang="en-US" sz="1400" dirty="0">
              <a:latin typeface="Calibri Light" panose="020F0302020204030204" pitchFamily="34" charset="0"/>
            </a:endParaRPr>
          </a:p>
        </p:txBody>
      </p:sp>
      <p:pic>
        <p:nvPicPr>
          <p:cNvPr id="4098" name="Picture 2" descr="May be an image of text">
            <a:extLst>
              <a:ext uri="{FF2B5EF4-FFF2-40B4-BE49-F238E27FC236}">
                <a16:creationId xmlns:a16="http://schemas.microsoft.com/office/drawing/2014/main" id="{68BB26AA-1C76-9DF5-1320-3E8EF2F9B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020" y="964125"/>
            <a:ext cx="8684303" cy="50081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7776FB2-F766-B6D8-5EA7-6652A1EDD78B}"/>
              </a:ext>
            </a:extLst>
          </p:cNvPr>
          <p:cNvSpPr/>
          <p:nvPr/>
        </p:nvSpPr>
        <p:spPr>
          <a:xfrm rot="7701596">
            <a:off x="2144684" y="3153290"/>
            <a:ext cx="2089265"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E3A111B-A2CC-DD28-932B-553DD9EAA266}"/>
              </a:ext>
            </a:extLst>
          </p:cNvPr>
          <p:cNvSpPr/>
          <p:nvPr/>
        </p:nvSpPr>
        <p:spPr>
          <a:xfrm rot="3342316">
            <a:off x="6734023" y="3594729"/>
            <a:ext cx="1633303"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E3E900A-504D-2ABE-012F-86039A628B34}"/>
              </a:ext>
            </a:extLst>
          </p:cNvPr>
          <p:cNvSpPr/>
          <p:nvPr/>
        </p:nvSpPr>
        <p:spPr>
          <a:xfrm rot="10800000">
            <a:off x="4674368" y="4601950"/>
            <a:ext cx="1468969"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A462C6F-541D-3FC2-A912-DD9A78CE1058}"/>
              </a:ext>
            </a:extLst>
          </p:cNvPr>
          <p:cNvSpPr/>
          <p:nvPr/>
        </p:nvSpPr>
        <p:spPr>
          <a:xfrm>
            <a:off x="8916785" y="1850967"/>
            <a:ext cx="642851" cy="2272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8413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232121"/>
            <a:ext cx="11532524" cy="371937"/>
          </a:xfrm>
        </p:spPr>
        <p:txBody>
          <a:bodyPr>
            <a:noAutofit/>
          </a:bodyPr>
          <a:lstStyle/>
          <a:p>
            <a:pPr algn="ctr"/>
            <a:r>
              <a:rPr lang="en-GB" sz="2600" b="1" i="0" dirty="0">
                <a:solidFill>
                  <a:schemeClr val="tx1"/>
                </a:solidFill>
                <a:effectLst/>
              </a:rPr>
              <a:t>Epigenetic Mechanisms in Gene Regulation</a:t>
            </a:r>
            <a:endParaRPr lang="en-US" sz="2600" b="1" dirty="0">
              <a:solidFill>
                <a:schemeClr val="tx1"/>
              </a:solidFill>
            </a:endParaRPr>
          </a:p>
        </p:txBody>
      </p:sp>
      <p:sp>
        <p:nvSpPr>
          <p:cNvPr id="4" name="TextBox 3">
            <a:extLst>
              <a:ext uri="{FF2B5EF4-FFF2-40B4-BE49-F238E27FC236}">
                <a16:creationId xmlns:a16="http://schemas.microsoft.com/office/drawing/2014/main" id="{22B5F3A6-3AF4-D9BB-DD36-6C900EA4AA77}"/>
              </a:ext>
            </a:extLst>
          </p:cNvPr>
          <p:cNvSpPr txBox="1"/>
          <p:nvPr/>
        </p:nvSpPr>
        <p:spPr>
          <a:xfrm>
            <a:off x="479367" y="6193964"/>
            <a:ext cx="11382895" cy="523220"/>
          </a:xfrm>
          <a:prstGeom prst="rect">
            <a:avLst/>
          </a:prstGeom>
          <a:noFill/>
        </p:spPr>
        <p:txBody>
          <a:bodyPr wrap="square">
            <a:spAutoFit/>
          </a:bodyPr>
          <a:lstStyle/>
          <a:p>
            <a:r>
              <a:rPr lang="en-GB" sz="1400" b="0" i="0" dirty="0">
                <a:effectLst/>
                <a:latin typeface="Calibri Light" panose="020F0302020204030204" pitchFamily="34" charset="0"/>
              </a:rPr>
              <a:t>Zhang, J.; Sheng, H.; Hu, C.; Li, F.; Cai, B.; Ma, Y.; Wang, Y.; Ma, Y. Effects of DNA Methylation on Gene Expression and Phenotypic Traits in Cattle: A Review. Int. J. Mol. Sci. 2023, 24, 11882.</a:t>
            </a:r>
            <a:endParaRPr lang="en-US" sz="1400" dirty="0">
              <a:latin typeface="Calibri Light" panose="020F0302020204030204" pitchFamily="34" charset="0"/>
            </a:endParaRPr>
          </a:p>
        </p:txBody>
      </p:sp>
      <p:pic>
        <p:nvPicPr>
          <p:cNvPr id="4098" name="Picture 2" descr="May be an image of text">
            <a:extLst>
              <a:ext uri="{FF2B5EF4-FFF2-40B4-BE49-F238E27FC236}">
                <a16:creationId xmlns:a16="http://schemas.microsoft.com/office/drawing/2014/main" id="{68BB26AA-1C76-9DF5-1320-3E8EF2F9B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020" y="964125"/>
            <a:ext cx="8684303" cy="5008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113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49AFA-35A2-EE9A-0E31-66D654DCEDC1}"/>
              </a:ext>
            </a:extLst>
          </p:cNvPr>
          <p:cNvSpPr>
            <a:spLocks noGrp="1"/>
          </p:cNvSpPr>
          <p:nvPr>
            <p:ph type="title"/>
          </p:nvPr>
        </p:nvSpPr>
        <p:spPr>
          <a:xfrm>
            <a:off x="710738" y="1357111"/>
            <a:ext cx="10515600" cy="1325563"/>
          </a:xfrm>
        </p:spPr>
        <p:txBody>
          <a:bodyPr/>
          <a:lstStyle/>
          <a:p>
            <a:pPr algn="ctr"/>
            <a:r>
              <a:rPr lang="en-GB" sz="6600" b="1" dirty="0"/>
              <a:t>Thank you for your time!</a:t>
            </a:r>
            <a:endParaRPr lang="en-US" sz="6600" b="1" dirty="0"/>
          </a:p>
        </p:txBody>
      </p:sp>
      <p:sp>
        <p:nvSpPr>
          <p:cNvPr id="3" name="Subtitle 2">
            <a:extLst>
              <a:ext uri="{FF2B5EF4-FFF2-40B4-BE49-F238E27FC236}">
                <a16:creationId xmlns:a16="http://schemas.microsoft.com/office/drawing/2014/main" id="{EDD5678A-CAF3-6B39-E388-B72C0DA69855}"/>
              </a:ext>
            </a:extLst>
          </p:cNvPr>
          <p:cNvSpPr txBox="1">
            <a:spLocks/>
          </p:cNvSpPr>
          <p:nvPr/>
        </p:nvSpPr>
        <p:spPr>
          <a:xfrm>
            <a:off x="1352204" y="3087890"/>
            <a:ext cx="9144000" cy="16557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Calibri Light" panose="020F0302020204030204" pitchFamily="34" charset="0"/>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Calibri Light" panose="020F0302020204030204" pitchFamily="34" charset="0"/>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Calibri Light" panose="020F0302020204030204" pitchFamily="34" charset="0"/>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GB" dirty="0"/>
              <a:t>Phuc-Loi Luu, PhD</a:t>
            </a:r>
          </a:p>
          <a:p>
            <a:pPr marL="0" indent="0" algn="ctr">
              <a:buNone/>
            </a:pPr>
            <a:r>
              <a:rPr lang="en-GB" dirty="0"/>
              <a:t>Email: </a:t>
            </a:r>
            <a:r>
              <a:rPr lang="en-GB" dirty="0">
                <a:hlinkClick r:id="rId2"/>
              </a:rPr>
              <a:t>luu.p.loi@googlemail.com</a:t>
            </a:r>
            <a:endParaRPr lang="en-GB" dirty="0"/>
          </a:p>
          <a:p>
            <a:pPr marL="0" indent="0" algn="ctr">
              <a:buNone/>
            </a:pPr>
            <a:r>
              <a:rPr lang="en-GB" dirty="0" err="1"/>
              <a:t>Zalo</a:t>
            </a:r>
            <a:r>
              <a:rPr lang="en-GB" dirty="0"/>
              <a:t>: 0901802182</a:t>
            </a:r>
            <a:endParaRPr lang="en-US" dirty="0"/>
          </a:p>
        </p:txBody>
      </p:sp>
    </p:spTree>
    <p:extLst>
      <p:ext uri="{BB962C8B-B14F-4D97-AF65-F5344CB8AC3E}">
        <p14:creationId xmlns:p14="http://schemas.microsoft.com/office/powerpoint/2010/main" val="37998128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482</TotalTime>
  <Words>1938</Words>
  <Application>Microsoft Office PowerPoint</Application>
  <PresentationFormat>Widescreen</PresentationFormat>
  <Paragraphs>253</Paragraphs>
  <Slides>25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Calibri</vt:lpstr>
      <vt:lpstr>Calibri Light</vt:lpstr>
      <vt:lpstr>Century Gothic</vt:lpstr>
      <vt:lpstr>ElsevierGulliver</vt:lpstr>
      <vt:lpstr>Wingdings 3</vt:lpstr>
      <vt:lpstr>Ion</vt:lpstr>
      <vt:lpstr>Cancer Epigenetics Oral Midterm Exam II Module I: Fundamentals of Epigenetics</vt:lpstr>
      <vt:lpstr>Content</vt:lpstr>
      <vt:lpstr>Background Concepts</vt:lpstr>
      <vt:lpstr>PowerPoint Presentation</vt:lpstr>
      <vt:lpstr>PowerPoint Presentation</vt:lpstr>
      <vt:lpstr>The Challenge of Eukaryotic Transcription</vt:lpstr>
      <vt:lpstr>The Challenge of Eukaryotic Transcription</vt:lpstr>
      <vt:lpstr>Assembly of the basal transcriptional machinery</vt:lpstr>
      <vt:lpstr>Assembly of the basal transcriptional machinery</vt:lpstr>
      <vt:lpstr>The Fetal-to-Adult Hemoglobin Switch — Mechanism and Therapy</vt:lpstr>
      <vt:lpstr>The Fetal-to-Adult Hemoglobin Switch — Mechanism and Therapy</vt:lpstr>
      <vt:lpstr>PowerPoint Presentation</vt:lpstr>
      <vt:lpstr>PowerPoint Presentation</vt:lpstr>
      <vt:lpstr>Interpretation</vt:lpstr>
      <vt:lpstr>Components of transcriptional regulation</vt:lpstr>
      <vt:lpstr>Components of transcriptional regulation</vt:lpstr>
      <vt:lpstr>PowerPoint Presentation</vt:lpstr>
      <vt:lpstr>PowerPoint Presentation</vt:lpstr>
      <vt:lpstr>Transcription Factor Binding Sites Motifs</vt:lpstr>
      <vt:lpstr>PowerPoint Presentation</vt:lpstr>
      <vt:lpstr>PowerPoint Presentation</vt:lpstr>
      <vt:lpstr>PowerPoint Presentation</vt:lpstr>
      <vt:lpstr>Epigenetic Mechanisms in Gene Regulation</vt:lpstr>
      <vt:lpstr>Epigenetic Mechanisms in Gene Regulation</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Epigenetics 2025 Oral Exam: 7 June 2025</dc:title>
  <dc:creator>Luu Loi</dc:creator>
  <cp:lastModifiedBy>Luu Loi</cp:lastModifiedBy>
  <cp:revision>126</cp:revision>
  <dcterms:created xsi:type="dcterms:W3CDTF">2025-06-06T22:56:45Z</dcterms:created>
  <dcterms:modified xsi:type="dcterms:W3CDTF">2026-05-31T00:36:41Z</dcterms:modified>
</cp:coreProperties>
</file>