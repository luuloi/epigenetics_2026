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75" r:id="rId5"/>
    <p:sldId id="4767" r:id="rId6"/>
    <p:sldId id="4745" r:id="rId7"/>
    <p:sldId id="4746" r:id="rId8"/>
    <p:sldId id="4748" r:id="rId9"/>
    <p:sldId id="4749" r:id="rId10"/>
    <p:sldId id="4758" r:id="rId11"/>
    <p:sldId id="4759" r:id="rId12"/>
    <p:sldId id="4765" r:id="rId13"/>
    <p:sldId id="4766" r:id="rId14"/>
    <p:sldId id="4777" r:id="rId15"/>
    <p:sldId id="4778" r:id="rId16"/>
    <p:sldId id="259" r:id="rId17"/>
    <p:sldId id="260" r:id="rId18"/>
    <p:sldId id="269" r:id="rId19"/>
    <p:sldId id="263" r:id="rId20"/>
    <p:sldId id="274" r:id="rId21"/>
    <p:sldId id="264" r:id="rId22"/>
    <p:sldId id="273" r:id="rId23"/>
    <p:sldId id="27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86" d="100"/>
          <a:sy n="86" d="100"/>
        </p:scale>
        <p:origin x="48" y="1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CBCA86-5542-4E21-9D68-1AF49F2A5CF9}" type="datetimeFigureOut">
              <a:rPr lang="en-US" smtClean="0"/>
              <a:t>5/31/2026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651713-6887-4135-82F2-F3D8768EA4AF}" type="slidenum">
              <a:rPr lang="en-US" smtClean="0"/>
              <a:t>‹#›</a:t>
            </a:fld>
            <a:endParaRPr lang="en-US"/>
          </a:p>
        </p:txBody>
      </p:sp>
    </p:spTree>
    <p:extLst>
      <p:ext uri="{BB962C8B-B14F-4D97-AF65-F5344CB8AC3E}">
        <p14:creationId xmlns:p14="http://schemas.microsoft.com/office/powerpoint/2010/main" val="2308893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6</a:t>
            </a:fld>
            <a:endParaRPr lang="en-US" dirty="0"/>
          </a:p>
        </p:txBody>
      </p:sp>
    </p:spTree>
    <p:extLst>
      <p:ext uri="{BB962C8B-B14F-4D97-AF65-F5344CB8AC3E}">
        <p14:creationId xmlns:p14="http://schemas.microsoft.com/office/powerpoint/2010/main" val="13189407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7</a:t>
            </a:fld>
            <a:endParaRPr lang="en-US" dirty="0"/>
          </a:p>
        </p:txBody>
      </p:sp>
    </p:spTree>
    <p:extLst>
      <p:ext uri="{BB962C8B-B14F-4D97-AF65-F5344CB8AC3E}">
        <p14:creationId xmlns:p14="http://schemas.microsoft.com/office/powerpoint/2010/main" val="2256870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8</a:t>
            </a:fld>
            <a:endParaRPr lang="en-US" dirty="0"/>
          </a:p>
        </p:txBody>
      </p:sp>
    </p:spTree>
    <p:extLst>
      <p:ext uri="{BB962C8B-B14F-4D97-AF65-F5344CB8AC3E}">
        <p14:creationId xmlns:p14="http://schemas.microsoft.com/office/powerpoint/2010/main" val="2320846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9</a:t>
            </a:fld>
            <a:endParaRPr lang="en-US" dirty="0"/>
          </a:p>
        </p:txBody>
      </p:sp>
    </p:spTree>
    <p:extLst>
      <p:ext uri="{BB962C8B-B14F-4D97-AF65-F5344CB8AC3E}">
        <p14:creationId xmlns:p14="http://schemas.microsoft.com/office/powerpoint/2010/main" val="1706844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nucleosome. This space-filling surface representation of a nucleosome contains two copies each of the four core histone proteins H2A (green), H2B (orange), H3 (red) and H4 (blue) and 147 base pairs of genomic DNA (</a:t>
            </a:r>
            <a:r>
              <a:rPr lang="en-GB" dirty="0" err="1"/>
              <a:t>gray</a:t>
            </a:r>
            <a:r>
              <a:rPr lang="en-GB" dirty="0"/>
              <a:t>) being wrapped 1.8-times around the histone core. In complex with the linker histone H1 (brown) the nucleosome is referred to as </a:t>
            </a:r>
            <a:r>
              <a:rPr lang="en-GB" dirty="0" err="1"/>
              <a:t>chromatosome</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10</a:t>
            </a:fld>
            <a:endParaRPr lang="en-US" dirty="0"/>
          </a:p>
        </p:txBody>
      </p:sp>
    </p:spTree>
    <p:extLst>
      <p:ext uri="{BB962C8B-B14F-4D97-AF65-F5344CB8AC3E}">
        <p14:creationId xmlns:p14="http://schemas.microsoft.com/office/powerpoint/2010/main" val="13741223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nucleosome. This space-filling surface representation of a nucleosome contains two copies each of the four core histone proteins H2A (green), H2B (orange), H3 (red) and H4 (blue) and 147 base pairs of genomic DNA (</a:t>
            </a:r>
            <a:r>
              <a:rPr lang="en-GB" dirty="0" err="1"/>
              <a:t>gray</a:t>
            </a:r>
            <a:r>
              <a:rPr lang="en-GB" dirty="0"/>
              <a:t>) being wrapped 1.8-times around the histone core. In complex with the linker histone H1 (brown) the nucleosome is referred to as </a:t>
            </a:r>
            <a:r>
              <a:rPr lang="en-GB" dirty="0" err="1"/>
              <a:t>chromatosome</a:t>
            </a:r>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11</a:t>
            </a:fld>
            <a:endParaRPr lang="en-US" dirty="0"/>
          </a:p>
        </p:txBody>
      </p:sp>
    </p:spTree>
    <p:extLst>
      <p:ext uri="{BB962C8B-B14F-4D97-AF65-F5344CB8AC3E}">
        <p14:creationId xmlns:p14="http://schemas.microsoft.com/office/powerpoint/2010/main" val="392453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12</a:t>
            </a:fld>
            <a:endParaRPr lang="en-US" dirty="0"/>
          </a:p>
        </p:txBody>
      </p:sp>
    </p:spTree>
    <p:extLst>
      <p:ext uri="{BB962C8B-B14F-4D97-AF65-F5344CB8AC3E}">
        <p14:creationId xmlns:p14="http://schemas.microsoft.com/office/powerpoint/2010/main" val="3882307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13</a:t>
            </a:fld>
            <a:endParaRPr lang="en-US" dirty="0"/>
          </a:p>
        </p:txBody>
      </p:sp>
    </p:spTree>
    <p:extLst>
      <p:ext uri="{BB962C8B-B14F-4D97-AF65-F5344CB8AC3E}">
        <p14:creationId xmlns:p14="http://schemas.microsoft.com/office/powerpoint/2010/main" val="1419710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14</a:t>
            </a:fld>
            <a:endParaRPr lang="en-US" dirty="0"/>
          </a:p>
        </p:txBody>
      </p:sp>
    </p:spTree>
    <p:extLst>
      <p:ext uri="{BB962C8B-B14F-4D97-AF65-F5344CB8AC3E}">
        <p14:creationId xmlns:p14="http://schemas.microsoft.com/office/powerpoint/2010/main" val="318636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03204-0D85-4D43-9361-EE939A533DBE}" type="slidenum">
              <a:rPr lang="en-US" smtClean="0"/>
              <a:pPr/>
              <a:t>15</a:t>
            </a:fld>
            <a:endParaRPr lang="en-US" dirty="0"/>
          </a:p>
        </p:txBody>
      </p:sp>
    </p:spTree>
    <p:extLst>
      <p:ext uri="{BB962C8B-B14F-4D97-AF65-F5344CB8AC3E}">
        <p14:creationId xmlns:p14="http://schemas.microsoft.com/office/powerpoint/2010/main" val="318636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342871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111454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48456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D19C96-C96F-4C94-80F9-87C465F0357C}"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523679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D19C96-C96F-4C94-80F9-87C465F0357C}" type="datetimeFigureOut">
              <a:rPr lang="en-US" smtClean="0"/>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530280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641558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18964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733337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19C96-C96F-4C94-80F9-87C465F0357C}"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758768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19C96-C96F-4C94-80F9-87C465F0357C}" type="datetimeFigureOut">
              <a:rPr lang="en-US" smtClean="0"/>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199077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447071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Calibri Light" panose="020F0302020204030204" pitchFamily="34" charset="0"/>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dirty="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latin typeface="Calibri Light" panose="020F0302020204030204" pitchFamily="34" charset="0"/>
              </a:rPr>
              <a:t>”</a:t>
            </a:r>
          </a:p>
        </p:txBody>
      </p:sp>
    </p:spTree>
    <p:extLst>
      <p:ext uri="{BB962C8B-B14F-4D97-AF65-F5344CB8AC3E}">
        <p14:creationId xmlns:p14="http://schemas.microsoft.com/office/powerpoint/2010/main" val="2040901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90871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2717665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0480407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40458069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D19C96-C96F-4C94-80F9-87C465F0357C}" type="datetimeFigureOut">
              <a:rPr lang="en-US" smtClean="0"/>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EDCBAD-77BB-4B14-A17B-22C7CF747754}" type="slidenum">
              <a:rPr lang="en-US" smtClean="0"/>
              <a:t>‹#›</a:t>
            </a:fld>
            <a:endParaRPr lang="en-US"/>
          </a:p>
        </p:txBody>
      </p:sp>
    </p:spTree>
    <p:extLst>
      <p:ext uri="{BB962C8B-B14F-4D97-AF65-F5344CB8AC3E}">
        <p14:creationId xmlns:p14="http://schemas.microsoft.com/office/powerpoint/2010/main" val="3410802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latin typeface="Calibri Light" panose="020F0302020204030204" pitchFamily="34" charset="0"/>
              </a:defRPr>
            </a:lvl1pPr>
          </a:lstStyle>
          <a:p>
            <a:fld id="{ACD19C96-C96F-4C94-80F9-87C465F0357C}" type="datetimeFigureOut">
              <a:rPr lang="en-US" smtClean="0"/>
              <a:pPr/>
              <a:t>5/31/2026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latin typeface="Calibri Light" panose="020F0302020204030204" pitchFamily="34" charset="0"/>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latin typeface="Calibri Light" panose="020F0302020204030204" pitchFamily="34" charset="0"/>
              </a:defRPr>
            </a:lvl1pPr>
          </a:lstStyle>
          <a:p>
            <a:fld id="{A1EDCBAD-77BB-4B14-A17B-22C7CF747754}" type="slidenum">
              <a:rPr lang="en-US" smtClean="0"/>
              <a:pPr/>
              <a:t>‹#›</a:t>
            </a:fld>
            <a:endParaRPr lang="en-US" dirty="0"/>
          </a:p>
        </p:txBody>
      </p:sp>
    </p:spTree>
    <p:extLst>
      <p:ext uri="{BB962C8B-B14F-4D97-AF65-F5344CB8AC3E}">
        <p14:creationId xmlns:p14="http://schemas.microsoft.com/office/powerpoint/2010/main" val="390940040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Calibri Light" panose="020F030202020403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locus-control-region"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sciencedirect.com/topics/biochemistry-genetics-and-molecular-biology/locus-control-region"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AED8-C12C-C6A6-667E-13AD998CB472}"/>
              </a:ext>
            </a:extLst>
          </p:cNvPr>
          <p:cNvSpPr>
            <a:spLocks noGrp="1"/>
          </p:cNvSpPr>
          <p:nvPr>
            <p:ph type="ctrTitle"/>
          </p:nvPr>
        </p:nvSpPr>
        <p:spPr>
          <a:xfrm>
            <a:off x="592975" y="1191491"/>
            <a:ext cx="10895214" cy="2769350"/>
          </a:xfrm>
        </p:spPr>
        <p:txBody>
          <a:bodyPr>
            <a:normAutofit fontScale="90000"/>
          </a:bodyPr>
          <a:lstStyle/>
          <a:p>
            <a:pPr algn="ctr"/>
            <a:r>
              <a:rPr lang="en-GB" sz="6000" b="1" dirty="0">
                <a:solidFill>
                  <a:schemeClr val="tx1"/>
                </a:solidFill>
              </a:rPr>
              <a:t>Cancer Epigenetics</a:t>
            </a:r>
            <a:br>
              <a:rPr lang="en-GB" b="1" dirty="0">
                <a:solidFill>
                  <a:schemeClr val="tx1"/>
                </a:solidFill>
              </a:rPr>
            </a:br>
            <a:r>
              <a:rPr lang="en-GB" sz="8800" b="1" dirty="0">
                <a:solidFill>
                  <a:srgbClr val="00B0F0"/>
                </a:solidFill>
              </a:rPr>
              <a:t>Oral Midterm Exam I</a:t>
            </a:r>
            <a:br>
              <a:rPr lang="en-GB" sz="8800" b="1" dirty="0">
                <a:solidFill>
                  <a:srgbClr val="00B0F0"/>
                </a:solidFill>
              </a:rPr>
            </a:br>
            <a:r>
              <a:rPr lang="en-GB" sz="6000" b="1" i="0" dirty="0">
                <a:solidFill>
                  <a:schemeClr val="tx1"/>
                </a:solidFill>
                <a:effectLst/>
              </a:rPr>
              <a:t>Module I: Fundamentals of Epigenetics</a:t>
            </a:r>
            <a:endParaRPr lang="en-US" sz="6000" b="1" dirty="0">
              <a:solidFill>
                <a:schemeClr val="tx1"/>
              </a:solidFill>
            </a:endParaRPr>
          </a:p>
        </p:txBody>
      </p:sp>
      <p:sp>
        <p:nvSpPr>
          <p:cNvPr id="3" name="Subtitle 2">
            <a:extLst>
              <a:ext uri="{FF2B5EF4-FFF2-40B4-BE49-F238E27FC236}">
                <a16:creationId xmlns:a16="http://schemas.microsoft.com/office/drawing/2014/main" id="{18EB8B34-7725-BDDD-BDAE-D3FA8BB997CF}"/>
              </a:ext>
            </a:extLst>
          </p:cNvPr>
          <p:cNvSpPr>
            <a:spLocks noGrp="1"/>
          </p:cNvSpPr>
          <p:nvPr>
            <p:ph type="subTitle" idx="1"/>
          </p:nvPr>
        </p:nvSpPr>
        <p:spPr>
          <a:xfrm>
            <a:off x="1562793" y="4700559"/>
            <a:ext cx="9144000" cy="1655762"/>
          </a:xfrm>
        </p:spPr>
        <p:txBody>
          <a:bodyPr>
            <a:normAutofit lnSpcReduction="10000"/>
          </a:bodyPr>
          <a:lstStyle/>
          <a:p>
            <a:pPr algn="ctr"/>
            <a:r>
              <a:rPr lang="en-GB" dirty="0"/>
              <a:t>May 28 2025</a:t>
            </a:r>
          </a:p>
          <a:p>
            <a:pPr algn="ctr"/>
            <a:r>
              <a:rPr lang="en-GB" dirty="0"/>
              <a:t>Phuc-Loi Luu, PhD</a:t>
            </a:r>
          </a:p>
          <a:p>
            <a:pPr algn="ctr"/>
            <a:r>
              <a:rPr lang="en-GB" dirty="0"/>
              <a:t>Email: </a:t>
            </a:r>
            <a:r>
              <a:rPr lang="en-GB" dirty="0">
                <a:hlinkClick r:id="rId2"/>
              </a:rPr>
              <a:t>luu.p.loi@googlemail.com</a:t>
            </a:r>
            <a:endParaRPr lang="en-GB" dirty="0"/>
          </a:p>
          <a:p>
            <a:pPr algn="ctr"/>
            <a:r>
              <a:rPr lang="en-GB" dirty="0" err="1"/>
              <a:t>Zalo</a:t>
            </a:r>
            <a:r>
              <a:rPr lang="en-GB" dirty="0"/>
              <a:t>: 0901802182</a:t>
            </a:r>
            <a:endParaRPr lang="en-US" dirty="0"/>
          </a:p>
        </p:txBody>
      </p:sp>
    </p:spTree>
    <p:extLst>
      <p:ext uri="{BB962C8B-B14F-4D97-AF65-F5344CB8AC3E}">
        <p14:creationId xmlns:p14="http://schemas.microsoft.com/office/powerpoint/2010/main" val="1632030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1C1AE-C038-8D8E-73B1-DCFB7F85B33A}"/>
              </a:ext>
            </a:extLst>
          </p:cNvPr>
          <p:cNvSpPr>
            <a:spLocks noGrp="1"/>
          </p:cNvSpPr>
          <p:nvPr>
            <p:ph type="title"/>
          </p:nvPr>
        </p:nvSpPr>
        <p:spPr/>
        <p:txBody>
          <a:bodyPr/>
          <a:lstStyle/>
          <a:p>
            <a:r>
              <a:rPr lang="en-GB" b="1" dirty="0"/>
              <a:t>Content</a:t>
            </a:r>
            <a:endParaRPr lang="en-US" b="1" dirty="0"/>
          </a:p>
        </p:txBody>
      </p:sp>
      <p:sp>
        <p:nvSpPr>
          <p:cNvPr id="3" name="Content Placeholder 2">
            <a:extLst>
              <a:ext uri="{FF2B5EF4-FFF2-40B4-BE49-F238E27FC236}">
                <a16:creationId xmlns:a16="http://schemas.microsoft.com/office/drawing/2014/main" id="{B370A885-BAAC-3587-39E9-B7C5D66B7556}"/>
              </a:ext>
            </a:extLst>
          </p:cNvPr>
          <p:cNvSpPr>
            <a:spLocks noGrp="1"/>
          </p:cNvSpPr>
          <p:nvPr>
            <p:ph idx="1"/>
          </p:nvPr>
        </p:nvSpPr>
        <p:spPr>
          <a:xfrm>
            <a:off x="1103312" y="1579418"/>
            <a:ext cx="8946541" cy="4668981"/>
          </a:xfrm>
        </p:spPr>
        <p:txBody>
          <a:bodyPr>
            <a:normAutofit/>
          </a:bodyPr>
          <a:lstStyle/>
          <a:p>
            <a:pPr marL="514350" indent="-514350">
              <a:buFont typeface="+mj-lt"/>
              <a:buAutoNum type="arabicPeriod"/>
            </a:pPr>
            <a:r>
              <a:rPr lang="en-GB" sz="3600" b="1" dirty="0"/>
              <a:t>Background Concepts</a:t>
            </a:r>
          </a:p>
          <a:p>
            <a:pPr marL="514350" indent="-514350">
              <a:buFont typeface="+mj-lt"/>
              <a:buAutoNum type="arabicPeriod"/>
            </a:pPr>
            <a:r>
              <a:rPr lang="en-GB" sz="3600" b="1" dirty="0"/>
              <a:t>Interpretation</a:t>
            </a:r>
            <a:endParaRPr lang="en-GB" sz="3600" dirty="0"/>
          </a:p>
          <a:p>
            <a:endParaRPr lang="en-US" sz="3600" dirty="0"/>
          </a:p>
        </p:txBody>
      </p:sp>
    </p:spTree>
    <p:extLst>
      <p:ext uri="{BB962C8B-B14F-4D97-AF65-F5344CB8AC3E}">
        <p14:creationId xmlns:p14="http://schemas.microsoft.com/office/powerpoint/2010/main" val="311667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E4AF0-C1D4-BD27-2AD9-024259A3724E}"/>
              </a:ext>
            </a:extLst>
          </p:cNvPr>
          <p:cNvSpPr>
            <a:spLocks noGrp="1"/>
          </p:cNvSpPr>
          <p:nvPr>
            <p:ph type="title"/>
          </p:nvPr>
        </p:nvSpPr>
        <p:spPr>
          <a:xfrm>
            <a:off x="688571" y="2103437"/>
            <a:ext cx="10515600" cy="1325563"/>
          </a:xfrm>
        </p:spPr>
        <p:txBody>
          <a:bodyPr>
            <a:normAutofit/>
          </a:bodyPr>
          <a:lstStyle/>
          <a:p>
            <a:pPr algn="ctr"/>
            <a:r>
              <a:rPr lang="en-GB" sz="6000" b="1" dirty="0">
                <a:solidFill>
                  <a:schemeClr val="tx1"/>
                </a:solidFill>
              </a:rPr>
              <a:t>Background Concepts</a:t>
            </a:r>
            <a:endParaRPr lang="en-US" sz="6000" b="1" dirty="0">
              <a:solidFill>
                <a:schemeClr val="tx1"/>
              </a:solidFill>
            </a:endParaRPr>
          </a:p>
        </p:txBody>
      </p:sp>
    </p:spTree>
    <p:extLst>
      <p:ext uri="{BB962C8B-B14F-4D97-AF65-F5344CB8AC3E}">
        <p14:creationId xmlns:p14="http://schemas.microsoft.com/office/powerpoint/2010/main" val="3700129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BC19A9C-086E-6FB8-C6B7-314D22A9C670}"/>
              </a:ext>
            </a:extLst>
          </p:cNvPr>
          <p:cNvGraphicFramePr>
            <a:graphicFrameLocks noGrp="1"/>
          </p:cNvGraphicFramePr>
          <p:nvPr>
            <p:extLst>
              <p:ext uri="{D42A27DB-BD31-4B8C-83A1-F6EECF244321}">
                <p14:modId xmlns:p14="http://schemas.microsoft.com/office/powerpoint/2010/main" val="1801319469"/>
              </p:ext>
            </p:extLst>
          </p:nvPr>
        </p:nvGraphicFramePr>
        <p:xfrm>
          <a:off x="72044" y="126691"/>
          <a:ext cx="11959243" cy="6375758"/>
        </p:xfrm>
        <a:graphic>
          <a:graphicData uri="http://schemas.openxmlformats.org/drawingml/2006/table">
            <a:tbl>
              <a:tblPr firstRow="1" bandRow="1">
                <a:tableStyleId>{5C22544A-7EE6-4342-B048-85BDC9FD1C3A}</a:tableStyleId>
              </a:tblPr>
              <a:tblGrid>
                <a:gridCol w="495285">
                  <a:extLst>
                    <a:ext uri="{9D8B030D-6E8A-4147-A177-3AD203B41FA5}">
                      <a16:colId xmlns:a16="http://schemas.microsoft.com/office/drawing/2014/main" val="1820410624"/>
                    </a:ext>
                  </a:extLst>
                </a:gridCol>
                <a:gridCol w="593166">
                  <a:extLst>
                    <a:ext uri="{9D8B030D-6E8A-4147-A177-3AD203B41FA5}">
                      <a16:colId xmlns:a16="http://schemas.microsoft.com/office/drawing/2014/main" val="4160700028"/>
                    </a:ext>
                  </a:extLst>
                </a:gridCol>
                <a:gridCol w="4469300">
                  <a:extLst>
                    <a:ext uri="{9D8B030D-6E8A-4147-A177-3AD203B41FA5}">
                      <a16:colId xmlns:a16="http://schemas.microsoft.com/office/drawing/2014/main" val="3379462763"/>
                    </a:ext>
                  </a:extLst>
                </a:gridCol>
                <a:gridCol w="5872929">
                  <a:extLst>
                    <a:ext uri="{9D8B030D-6E8A-4147-A177-3AD203B41FA5}">
                      <a16:colId xmlns:a16="http://schemas.microsoft.com/office/drawing/2014/main" val="1637532814"/>
                    </a:ext>
                  </a:extLst>
                </a:gridCol>
                <a:gridCol w="528563">
                  <a:extLst>
                    <a:ext uri="{9D8B030D-6E8A-4147-A177-3AD203B41FA5}">
                      <a16:colId xmlns:a16="http://schemas.microsoft.com/office/drawing/2014/main" val="2815517234"/>
                    </a:ext>
                  </a:extLst>
                </a:gridCol>
              </a:tblGrid>
              <a:tr h="417267">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 statement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B statement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B</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20723837"/>
                  </a:ext>
                </a:extLst>
              </a:tr>
              <a:tr h="385303">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Gene Expression</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mRNA/Protein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814525076"/>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b</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Genetic information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Profiling variants/mutations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776809939"/>
                  </a:ext>
                </a:extLst>
              </a:tr>
              <a:tr h="354062">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A cellular trait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 of human genome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47261151"/>
                  </a:ext>
                </a:extLst>
              </a:tr>
              <a:tr h="390509">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RNA-</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seq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Histone Octamer</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43908599"/>
                  </a:ext>
                </a:extLst>
              </a:tr>
              <a:tr h="34364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DNA-</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seq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loosely packed and active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33383206"/>
                  </a:ext>
                </a:extLst>
              </a:tr>
              <a:tr h="34364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f</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Protein coding genes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converts genetic information into a cellular trait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7959964"/>
                  </a:ext>
                </a:extLst>
              </a:tr>
              <a:tr h="359269">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g</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RNA Pol I</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Profiling gene expression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7</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217505876"/>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RNA Pol II</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500" dirty="0">
                          <a:latin typeface="Calibri Light" panose="020F0302020204030204" pitchFamily="34" charset="0"/>
                          <a:ea typeface="Calibri Light" panose="020F0302020204030204" pitchFamily="34" charset="0"/>
                          <a:cs typeface="Calibri Light" panose="020F0302020204030204" pitchFamily="34" charset="0"/>
                        </a:rPr>
                        <a:t>Always heterochromatin (e.g., centromeres)</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8</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961044890"/>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k</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Nucleosome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They act as regulatory </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neighborhoods</a:t>
                      </a:r>
                      <a:r>
                        <a:rPr lang="en-GB" sz="1500" dirty="0">
                          <a:latin typeface="Calibri Light" panose="020F0302020204030204" pitchFamily="34" charset="0"/>
                          <a:ea typeface="Calibri Light" panose="020F0302020204030204" pitchFamily="34" charset="0"/>
                          <a:cs typeface="Calibri Light" panose="020F0302020204030204" pitchFamily="34" charset="0"/>
                        </a:rPr>
                        <a:t> and preventing regulatory crosstalk.</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9</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354030087"/>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err="1">
                          <a:latin typeface="Calibri Light" panose="020F0302020204030204" pitchFamily="34" charset="0"/>
                          <a:ea typeface="Calibri Light" panose="020F0302020204030204" pitchFamily="34" charset="0"/>
                          <a:cs typeface="Calibri Light" panose="020F0302020204030204" pitchFamily="34" charset="0"/>
                        </a:rPr>
                        <a:t>chromatosome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LADs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10</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524116731"/>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Euchromatin</a:t>
                      </a:r>
                      <a:r>
                        <a:rPr lang="en-GB" sz="1500" dirty="0">
                          <a:latin typeface="Calibri Light" panose="020F0302020204030204" pitchFamily="34" charset="0"/>
                          <a:ea typeface="Calibri Light" panose="020F0302020204030204" pitchFamily="34" charset="0"/>
                          <a:cs typeface="Calibri Light" panose="020F0302020204030204" pitchFamily="34" charset="0"/>
                        </a:rPr>
                        <a:t> </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Transcribes the large ribosomal RNA genes </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193270476"/>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m</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Heterochromatin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Histone Octamer + linker H1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716146309"/>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500" b="1" dirty="0">
                          <a:latin typeface="Calibri Light" panose="020F0302020204030204" pitchFamily="34" charset="0"/>
                          <a:ea typeface="Calibri Light" panose="020F0302020204030204" pitchFamily="34" charset="0"/>
                          <a:cs typeface="Calibri Light" panose="020F0302020204030204" pitchFamily="34" charset="0"/>
                        </a:rPr>
                        <a:t>Constitutive</a:t>
                      </a:r>
                      <a:endParaRPr lang="en-GB"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Can be reversibly converted to euchromatin (e.g., developmental genes)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897629771"/>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Facultative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tightly packed and silenced</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16626022"/>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TADs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DNA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230682"/>
                  </a:ext>
                </a:extLst>
              </a:tr>
              <a:tr h="359268">
                <a:tc>
                  <a:txBody>
                    <a:bodyPr/>
                    <a:lstStyle/>
                    <a:p>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x</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Tethering to the periphery is strongly associated with stable, long-term gene silencing.</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Transcribes all </a:t>
                      </a:r>
                      <a:r>
                        <a:rPr lang="en-GB" sz="1500" b="1" dirty="0">
                          <a:latin typeface="Calibri Light" panose="020F0302020204030204" pitchFamily="34" charset="0"/>
                          <a:ea typeface="Calibri Light" panose="020F0302020204030204" pitchFamily="34" charset="0"/>
                          <a:cs typeface="Calibri Light" panose="020F0302020204030204" pitchFamily="34" charset="0"/>
                        </a:rPr>
                        <a:t>protein-coding</a:t>
                      </a:r>
                      <a:r>
                        <a:rPr lang="en-GB" sz="1500" dirty="0">
                          <a:latin typeface="Calibri Light" panose="020F0302020204030204" pitchFamily="34" charset="0"/>
                          <a:ea typeface="Calibri Light" panose="020F0302020204030204" pitchFamily="34" charset="0"/>
                          <a:cs typeface="Calibri Light" panose="020F0302020204030204" pitchFamily="34" charset="0"/>
                        </a:rPr>
                        <a:t> genes (mRNA)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4265478590"/>
                  </a:ext>
                </a:extLst>
              </a:tr>
            </a:tbl>
          </a:graphicData>
        </a:graphic>
      </p:graphicFrame>
    </p:spTree>
    <p:extLst>
      <p:ext uri="{BB962C8B-B14F-4D97-AF65-F5344CB8AC3E}">
        <p14:creationId xmlns:p14="http://schemas.microsoft.com/office/powerpoint/2010/main" val="2030744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BC19A9C-086E-6FB8-C6B7-314D22A9C670}"/>
              </a:ext>
            </a:extLst>
          </p:cNvPr>
          <p:cNvGraphicFramePr>
            <a:graphicFrameLocks noGrp="1"/>
          </p:cNvGraphicFramePr>
          <p:nvPr>
            <p:extLst>
              <p:ext uri="{D42A27DB-BD31-4B8C-83A1-F6EECF244321}">
                <p14:modId xmlns:p14="http://schemas.microsoft.com/office/powerpoint/2010/main" val="2784316987"/>
              </p:ext>
            </p:extLst>
          </p:nvPr>
        </p:nvGraphicFramePr>
        <p:xfrm>
          <a:off x="72044" y="126691"/>
          <a:ext cx="11959243" cy="6375758"/>
        </p:xfrm>
        <a:graphic>
          <a:graphicData uri="http://schemas.openxmlformats.org/drawingml/2006/table">
            <a:tbl>
              <a:tblPr firstRow="1" bandRow="1">
                <a:tableStyleId>{5C22544A-7EE6-4342-B048-85BDC9FD1C3A}</a:tableStyleId>
              </a:tblPr>
              <a:tblGrid>
                <a:gridCol w="495285">
                  <a:extLst>
                    <a:ext uri="{9D8B030D-6E8A-4147-A177-3AD203B41FA5}">
                      <a16:colId xmlns:a16="http://schemas.microsoft.com/office/drawing/2014/main" val="1820410624"/>
                    </a:ext>
                  </a:extLst>
                </a:gridCol>
                <a:gridCol w="593166">
                  <a:extLst>
                    <a:ext uri="{9D8B030D-6E8A-4147-A177-3AD203B41FA5}">
                      <a16:colId xmlns:a16="http://schemas.microsoft.com/office/drawing/2014/main" val="4160700028"/>
                    </a:ext>
                  </a:extLst>
                </a:gridCol>
                <a:gridCol w="4469300">
                  <a:extLst>
                    <a:ext uri="{9D8B030D-6E8A-4147-A177-3AD203B41FA5}">
                      <a16:colId xmlns:a16="http://schemas.microsoft.com/office/drawing/2014/main" val="3379462763"/>
                    </a:ext>
                  </a:extLst>
                </a:gridCol>
                <a:gridCol w="5872929">
                  <a:extLst>
                    <a:ext uri="{9D8B030D-6E8A-4147-A177-3AD203B41FA5}">
                      <a16:colId xmlns:a16="http://schemas.microsoft.com/office/drawing/2014/main" val="1637532814"/>
                    </a:ext>
                  </a:extLst>
                </a:gridCol>
                <a:gridCol w="528563">
                  <a:extLst>
                    <a:ext uri="{9D8B030D-6E8A-4147-A177-3AD203B41FA5}">
                      <a16:colId xmlns:a16="http://schemas.microsoft.com/office/drawing/2014/main" val="2815517234"/>
                    </a:ext>
                  </a:extLst>
                </a:gridCol>
              </a:tblGrid>
              <a:tr h="417267">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A statement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B statement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algn="ctr"/>
                      <a:r>
                        <a:rPr lang="en-GB" sz="1500" dirty="0">
                          <a:latin typeface="Calibri Light" panose="020F0302020204030204" pitchFamily="34" charset="0"/>
                          <a:ea typeface="Calibri Light" panose="020F0302020204030204" pitchFamily="34" charset="0"/>
                          <a:cs typeface="Calibri Light" panose="020F0302020204030204" pitchFamily="34" charset="0"/>
                        </a:rPr>
                        <a:t>B</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20723837"/>
                  </a:ext>
                </a:extLst>
              </a:tr>
              <a:tr h="385303">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Gene Expression</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mRNA/Protein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814525076"/>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b</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Genetic information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Profiling variants/mutations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776809939"/>
                  </a:ext>
                </a:extLst>
              </a:tr>
              <a:tr h="354062">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A cellular trait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 of human genome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47261151"/>
                  </a:ext>
                </a:extLst>
              </a:tr>
              <a:tr h="390509">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7</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RNA-</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seq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Histone Octamer</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343908599"/>
                  </a:ext>
                </a:extLst>
              </a:tr>
              <a:tr h="34364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DNA-</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seq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loosely packed and active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33383206"/>
                  </a:ext>
                </a:extLst>
              </a:tr>
              <a:tr h="34364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f</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Protein coding genes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converts genetic information into a cellular trait</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67959964"/>
                  </a:ext>
                </a:extLst>
              </a:tr>
              <a:tr h="359269">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g</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RNA Pol I</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Profiling gene expression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7</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217505876"/>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RNA Pol II</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500" dirty="0">
                          <a:latin typeface="Calibri Light" panose="020F0302020204030204" pitchFamily="34" charset="0"/>
                          <a:ea typeface="Calibri Light" panose="020F0302020204030204" pitchFamily="34" charset="0"/>
                          <a:cs typeface="Calibri Light" panose="020F0302020204030204" pitchFamily="34" charset="0"/>
                        </a:rPr>
                        <a:t>Always heterochromatin (e.g., centromeres)</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8</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961044890"/>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k</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Nucleosome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They act as regulatory </a:t>
                      </a:r>
                      <a:r>
                        <a:rPr lang="en-GB" sz="1500" dirty="0" err="1">
                          <a:latin typeface="Calibri Light" panose="020F0302020204030204" pitchFamily="34" charset="0"/>
                          <a:ea typeface="Calibri Light" panose="020F0302020204030204" pitchFamily="34" charset="0"/>
                          <a:cs typeface="Calibri Light" panose="020F0302020204030204" pitchFamily="34" charset="0"/>
                        </a:rPr>
                        <a:t>neighborhoods</a:t>
                      </a:r>
                      <a:r>
                        <a:rPr lang="en-GB" sz="1500" dirty="0">
                          <a:latin typeface="Calibri Light" panose="020F0302020204030204" pitchFamily="34" charset="0"/>
                          <a:ea typeface="Calibri Light" panose="020F0302020204030204" pitchFamily="34" charset="0"/>
                          <a:cs typeface="Calibri Light" panose="020F0302020204030204" pitchFamily="34" charset="0"/>
                        </a:rPr>
                        <a:t> and preventing regulatory crosstalk.</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9</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354030087"/>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err="1">
                          <a:latin typeface="Calibri Light" panose="020F0302020204030204" pitchFamily="34" charset="0"/>
                          <a:ea typeface="Calibri Light" panose="020F0302020204030204" pitchFamily="34" charset="0"/>
                          <a:cs typeface="Calibri Light" panose="020F0302020204030204" pitchFamily="34" charset="0"/>
                        </a:rPr>
                        <a:t>chromatosome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LADs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10</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2524116731"/>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Euchromatin</a:t>
                      </a:r>
                      <a:r>
                        <a:rPr lang="en-GB" sz="1500" dirty="0">
                          <a:latin typeface="Calibri Light" panose="020F0302020204030204" pitchFamily="34" charset="0"/>
                          <a:ea typeface="Calibri Light" panose="020F0302020204030204" pitchFamily="34" charset="0"/>
                          <a:cs typeface="Calibri Light" panose="020F0302020204030204" pitchFamily="34" charset="0"/>
                        </a:rPr>
                        <a:t> </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US" sz="1500" dirty="0">
                          <a:latin typeface="Calibri Light" panose="020F0302020204030204" pitchFamily="34" charset="0"/>
                          <a:ea typeface="Calibri Light" panose="020F0302020204030204" pitchFamily="34" charset="0"/>
                          <a:cs typeface="Calibri Light" panose="020F0302020204030204" pitchFamily="34" charset="0"/>
                        </a:rPr>
                        <a:t>Transcribes the large ribosomal RNA genes </a:t>
                      </a: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193270476"/>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m</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Heterochromatin</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Histone Octamer + linker H1</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12</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716146309"/>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8</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p</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500" b="1" dirty="0">
                          <a:latin typeface="Calibri Light" panose="020F0302020204030204" pitchFamily="34" charset="0"/>
                          <a:ea typeface="Calibri Light" panose="020F0302020204030204" pitchFamily="34" charset="0"/>
                          <a:cs typeface="Calibri Light" panose="020F0302020204030204" pitchFamily="34" charset="0"/>
                        </a:rPr>
                        <a:t>Constitutive</a:t>
                      </a:r>
                      <a:endParaRPr lang="en-GB"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Can be reversibly converted to euchromatin (e.g., developmental genes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1897629771"/>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13</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q</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b="1" dirty="0">
                          <a:latin typeface="Calibri Light" panose="020F0302020204030204" pitchFamily="34" charset="0"/>
                          <a:ea typeface="Calibri Light" panose="020F0302020204030204" pitchFamily="34" charset="0"/>
                          <a:cs typeface="Calibri Light" panose="020F0302020204030204" pitchFamily="34" charset="0"/>
                        </a:rPr>
                        <a:t>Facultative</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tightly packed and silenced</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14</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916626022"/>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9</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TADs</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DNA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15</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360230682"/>
                  </a:ext>
                </a:extLst>
              </a:tr>
              <a:tr h="359268">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10</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x</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Tethering to the periphery is strongly associated with stable, long-term gene silencing.</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Transcribes all </a:t>
                      </a:r>
                      <a:r>
                        <a:rPr lang="en-GB" sz="1500" b="1" dirty="0">
                          <a:latin typeface="Calibri Light" panose="020F0302020204030204" pitchFamily="34" charset="0"/>
                          <a:ea typeface="Calibri Light" panose="020F0302020204030204" pitchFamily="34" charset="0"/>
                          <a:cs typeface="Calibri Light" panose="020F0302020204030204" pitchFamily="34" charset="0"/>
                        </a:rPr>
                        <a:t>protein-coding</a:t>
                      </a:r>
                      <a:r>
                        <a:rPr lang="en-GB" sz="1500" dirty="0">
                          <a:latin typeface="Calibri Light" panose="020F0302020204030204" pitchFamily="34" charset="0"/>
                          <a:ea typeface="Calibri Light" panose="020F0302020204030204" pitchFamily="34" charset="0"/>
                          <a:cs typeface="Calibri Light" panose="020F0302020204030204" pitchFamily="34" charset="0"/>
                        </a:rPr>
                        <a:t> genes (mRNA)</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tc>
                  <a:txBody>
                    <a:bodyPr/>
                    <a:lstStyle/>
                    <a:p>
                      <a:r>
                        <a:rPr lang="en-GB" sz="1500" dirty="0">
                          <a:latin typeface="Calibri Light" panose="020F0302020204030204" pitchFamily="34" charset="0"/>
                          <a:ea typeface="Calibri Light" panose="020F0302020204030204" pitchFamily="34" charset="0"/>
                          <a:cs typeface="Calibri Light" panose="020F0302020204030204" pitchFamily="34" charset="0"/>
                        </a:rPr>
                        <a:t>16</a:t>
                      </a:r>
                      <a:endParaRPr lang="en-US" sz="1500" dirty="0">
                        <a:latin typeface="Calibri Light" panose="020F0302020204030204" pitchFamily="34" charset="0"/>
                        <a:ea typeface="Calibri Light" panose="020F0302020204030204" pitchFamily="34" charset="0"/>
                        <a:cs typeface="Calibri Light" panose="020F0302020204030204" pitchFamily="34" charset="0"/>
                      </a:endParaRPr>
                    </a:p>
                  </a:txBody>
                  <a:tcPr/>
                </a:tc>
                <a:extLst>
                  <a:ext uri="{0D108BD9-81ED-4DB2-BD59-A6C34878D82A}">
                    <a16:rowId xmlns:a16="http://schemas.microsoft.com/office/drawing/2014/main" val="4265478590"/>
                  </a:ext>
                </a:extLst>
              </a:tr>
            </a:tbl>
          </a:graphicData>
        </a:graphic>
      </p:graphicFrame>
    </p:spTree>
    <p:extLst>
      <p:ext uri="{BB962C8B-B14F-4D97-AF65-F5344CB8AC3E}">
        <p14:creationId xmlns:p14="http://schemas.microsoft.com/office/powerpoint/2010/main" val="1338353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GB" sz="3600" b="1" dirty="0"/>
              <a:t>The Outcome of Gene Expression</a:t>
            </a:r>
            <a:endParaRPr lang="en-US" sz="3600" b="1" dirty="0"/>
          </a:p>
        </p:txBody>
      </p:sp>
      <p:pic>
        <p:nvPicPr>
          <p:cNvPr id="3" name="Picture 2">
            <a:extLst>
              <a:ext uri="{FF2B5EF4-FFF2-40B4-BE49-F238E27FC236}">
                <a16:creationId xmlns:a16="http://schemas.microsoft.com/office/drawing/2014/main" id="{D2C0B2CB-D0DF-4932-1724-ABC0467321F7}"/>
              </a:ext>
            </a:extLst>
          </p:cNvPr>
          <p:cNvPicPr>
            <a:picLocks noChangeAspect="1"/>
          </p:cNvPicPr>
          <p:nvPr/>
        </p:nvPicPr>
        <p:blipFill>
          <a:blip r:embed="rId3"/>
          <a:stretch>
            <a:fillRect/>
          </a:stretch>
        </p:blipFill>
        <p:spPr>
          <a:xfrm>
            <a:off x="2193380" y="1066131"/>
            <a:ext cx="6950620" cy="5206177"/>
          </a:xfrm>
          <a:prstGeom prst="rect">
            <a:avLst/>
          </a:prstGeom>
          <a:solidFill>
            <a:schemeClr val="tx1"/>
          </a:solidFill>
        </p:spPr>
      </p:pic>
      <p:sp>
        <p:nvSpPr>
          <p:cNvPr id="5" name="TextBox 4">
            <a:extLst>
              <a:ext uri="{FF2B5EF4-FFF2-40B4-BE49-F238E27FC236}">
                <a16:creationId xmlns:a16="http://schemas.microsoft.com/office/drawing/2014/main" id="{8682FFC7-6AF7-699D-5D17-337218E5FC88}"/>
              </a:ext>
            </a:extLst>
          </p:cNvPr>
          <p:cNvSpPr txBox="1"/>
          <p:nvPr/>
        </p:nvSpPr>
        <p:spPr>
          <a:xfrm>
            <a:off x="4004235" y="6449708"/>
            <a:ext cx="7572188" cy="276999"/>
          </a:xfrm>
          <a:prstGeom prst="rect">
            <a:avLst/>
          </a:prstGeom>
          <a:noFill/>
        </p:spPr>
        <p:txBody>
          <a:bodyPr wrap="square">
            <a:spAutoFit/>
          </a:bodyPr>
          <a:lstStyle/>
          <a:p>
            <a:pPr algn="r"/>
            <a:r>
              <a:rPr lang="en-US" sz="1200" dirty="0">
                <a:latin typeface="Calibri Light" panose="020F0302020204030204" pitchFamily="34" charset="0"/>
              </a:rPr>
              <a:t>https://courses.lumenlearning.com/wm-nmbiology1/chapter/reading-expression-of-genes/</a:t>
            </a:r>
          </a:p>
        </p:txBody>
      </p:sp>
      <p:sp>
        <p:nvSpPr>
          <p:cNvPr id="4" name="Rectangle 3">
            <a:extLst>
              <a:ext uri="{FF2B5EF4-FFF2-40B4-BE49-F238E27FC236}">
                <a16:creationId xmlns:a16="http://schemas.microsoft.com/office/drawing/2014/main" id="{CC3C0222-B142-A628-097E-8638258640AE}"/>
              </a:ext>
            </a:extLst>
          </p:cNvPr>
          <p:cNvSpPr/>
          <p:nvPr/>
        </p:nvSpPr>
        <p:spPr>
          <a:xfrm>
            <a:off x="5336771" y="1066131"/>
            <a:ext cx="986444" cy="39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6" name="Rectangle 5">
            <a:extLst>
              <a:ext uri="{FF2B5EF4-FFF2-40B4-BE49-F238E27FC236}">
                <a16:creationId xmlns:a16="http://schemas.microsoft.com/office/drawing/2014/main" id="{3DFAC7CF-4CD5-BD87-DFCB-3959D255E1DB}"/>
              </a:ext>
            </a:extLst>
          </p:cNvPr>
          <p:cNvSpPr/>
          <p:nvPr/>
        </p:nvSpPr>
        <p:spPr>
          <a:xfrm>
            <a:off x="3383279" y="1623084"/>
            <a:ext cx="1510145" cy="39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690CB471-13FE-BB93-4B3B-C856B35B0E16}"/>
              </a:ext>
            </a:extLst>
          </p:cNvPr>
          <p:cNvSpPr/>
          <p:nvPr/>
        </p:nvSpPr>
        <p:spPr>
          <a:xfrm>
            <a:off x="2576944" y="5875399"/>
            <a:ext cx="1657005" cy="39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4DCBE09D-36AA-97E3-A88F-4689D0855376}"/>
              </a:ext>
            </a:extLst>
          </p:cNvPr>
          <p:cNvSpPr/>
          <p:nvPr/>
        </p:nvSpPr>
        <p:spPr>
          <a:xfrm>
            <a:off x="6133324" y="5196526"/>
            <a:ext cx="1657005" cy="3969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1863151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GB" sz="3600" b="1" dirty="0"/>
              <a:t>The Outcome of Gene Expression</a:t>
            </a:r>
            <a:endParaRPr lang="en-US" sz="3600" b="1" dirty="0"/>
          </a:p>
        </p:txBody>
      </p:sp>
      <p:pic>
        <p:nvPicPr>
          <p:cNvPr id="3" name="Picture 2">
            <a:extLst>
              <a:ext uri="{FF2B5EF4-FFF2-40B4-BE49-F238E27FC236}">
                <a16:creationId xmlns:a16="http://schemas.microsoft.com/office/drawing/2014/main" id="{D2C0B2CB-D0DF-4932-1724-ABC0467321F7}"/>
              </a:ext>
            </a:extLst>
          </p:cNvPr>
          <p:cNvPicPr>
            <a:picLocks noChangeAspect="1"/>
          </p:cNvPicPr>
          <p:nvPr/>
        </p:nvPicPr>
        <p:blipFill>
          <a:blip r:embed="rId3"/>
          <a:stretch>
            <a:fillRect/>
          </a:stretch>
        </p:blipFill>
        <p:spPr>
          <a:xfrm>
            <a:off x="2193380" y="1066131"/>
            <a:ext cx="6950620" cy="5206177"/>
          </a:xfrm>
          <a:prstGeom prst="rect">
            <a:avLst/>
          </a:prstGeom>
          <a:solidFill>
            <a:schemeClr val="tx1"/>
          </a:solidFill>
        </p:spPr>
      </p:pic>
      <p:sp>
        <p:nvSpPr>
          <p:cNvPr id="5" name="TextBox 4">
            <a:extLst>
              <a:ext uri="{FF2B5EF4-FFF2-40B4-BE49-F238E27FC236}">
                <a16:creationId xmlns:a16="http://schemas.microsoft.com/office/drawing/2014/main" id="{8682FFC7-6AF7-699D-5D17-337218E5FC88}"/>
              </a:ext>
            </a:extLst>
          </p:cNvPr>
          <p:cNvSpPr txBox="1"/>
          <p:nvPr/>
        </p:nvSpPr>
        <p:spPr>
          <a:xfrm>
            <a:off x="4004235" y="6449708"/>
            <a:ext cx="7572188" cy="276999"/>
          </a:xfrm>
          <a:prstGeom prst="rect">
            <a:avLst/>
          </a:prstGeom>
          <a:noFill/>
        </p:spPr>
        <p:txBody>
          <a:bodyPr wrap="square">
            <a:spAutoFit/>
          </a:bodyPr>
          <a:lstStyle/>
          <a:p>
            <a:pPr algn="r"/>
            <a:r>
              <a:rPr lang="en-US" sz="1200" dirty="0">
                <a:latin typeface="Calibri Light" panose="020F0302020204030204" pitchFamily="34" charset="0"/>
              </a:rPr>
              <a:t>https://courses.lumenlearning.com/wm-nmbiology1/chapter/reading-expression-of-genes/</a:t>
            </a:r>
          </a:p>
        </p:txBody>
      </p:sp>
    </p:spTree>
    <p:extLst>
      <p:ext uri="{BB962C8B-B14F-4D97-AF65-F5344CB8AC3E}">
        <p14:creationId xmlns:p14="http://schemas.microsoft.com/office/powerpoint/2010/main" val="1993451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1343292" y="75874"/>
            <a:ext cx="9805758" cy="572518"/>
          </a:xfrm>
        </p:spPr>
        <p:txBody>
          <a:bodyPr/>
          <a:lstStyle/>
          <a:p>
            <a:pPr algn="ctr">
              <a:lnSpc>
                <a:spcPct val="150000"/>
              </a:lnSpc>
            </a:pPr>
            <a:r>
              <a:rPr lang="en-GB" sz="2800" b="1" dirty="0">
                <a:latin typeface="Calibri Light" panose="020F0302020204030204" pitchFamily="34" charset="0"/>
                <a:ea typeface="Calibri Light" panose="020F0302020204030204" pitchFamily="34" charset="0"/>
                <a:cs typeface="Calibri Light" panose="020F0302020204030204" pitchFamily="34" charset="0"/>
              </a:rPr>
              <a:t>Gene expression is triggered by a signal from the cell environment</a:t>
            </a:r>
          </a:p>
        </p:txBody>
      </p:sp>
      <p:pic>
        <p:nvPicPr>
          <p:cNvPr id="4" name="Picture 3">
            <a:extLst>
              <a:ext uri="{FF2B5EF4-FFF2-40B4-BE49-F238E27FC236}">
                <a16:creationId xmlns:a16="http://schemas.microsoft.com/office/drawing/2014/main" id="{4AFD4EFB-EA6C-6FA2-5203-6571FD124919}"/>
              </a:ext>
            </a:extLst>
          </p:cNvPr>
          <p:cNvPicPr>
            <a:picLocks noChangeAspect="1"/>
          </p:cNvPicPr>
          <p:nvPr/>
        </p:nvPicPr>
        <p:blipFill>
          <a:blip r:embed="rId3"/>
          <a:stretch>
            <a:fillRect/>
          </a:stretch>
        </p:blipFill>
        <p:spPr>
          <a:xfrm>
            <a:off x="492968" y="987671"/>
            <a:ext cx="6958925" cy="5477435"/>
          </a:xfrm>
          <a:prstGeom prst="rect">
            <a:avLst/>
          </a:prstGeom>
          <a:solidFill>
            <a:schemeClr val="tx1"/>
          </a:solidFill>
        </p:spPr>
      </p:pic>
      <p:sp>
        <p:nvSpPr>
          <p:cNvPr id="3" name="Rectangle 2">
            <a:extLst>
              <a:ext uri="{FF2B5EF4-FFF2-40B4-BE49-F238E27FC236}">
                <a16:creationId xmlns:a16="http://schemas.microsoft.com/office/drawing/2014/main" id="{9276439E-032B-6581-0D70-50243A2EEC31}"/>
              </a:ext>
            </a:extLst>
          </p:cNvPr>
          <p:cNvSpPr/>
          <p:nvPr/>
        </p:nvSpPr>
        <p:spPr>
          <a:xfrm>
            <a:off x="2205645" y="1064030"/>
            <a:ext cx="1596044" cy="3546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6" name="Rectangle 5">
            <a:extLst>
              <a:ext uri="{FF2B5EF4-FFF2-40B4-BE49-F238E27FC236}">
                <a16:creationId xmlns:a16="http://schemas.microsoft.com/office/drawing/2014/main" id="{6B80A5A4-1C44-0090-7C92-A479E7FEF878}"/>
              </a:ext>
            </a:extLst>
          </p:cNvPr>
          <p:cNvSpPr/>
          <p:nvPr/>
        </p:nvSpPr>
        <p:spPr>
          <a:xfrm>
            <a:off x="795253" y="4896196"/>
            <a:ext cx="1596044" cy="54586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TextBox 6">
            <a:extLst>
              <a:ext uri="{FF2B5EF4-FFF2-40B4-BE49-F238E27FC236}">
                <a16:creationId xmlns:a16="http://schemas.microsoft.com/office/drawing/2014/main" id="{4CCE3CCF-81F6-EC37-8766-B9B9E8EA5976}"/>
              </a:ext>
            </a:extLst>
          </p:cNvPr>
          <p:cNvSpPr txBox="1"/>
          <p:nvPr/>
        </p:nvSpPr>
        <p:spPr>
          <a:xfrm>
            <a:off x="7599005" y="1113905"/>
            <a:ext cx="4072064" cy="503535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b="1" dirty="0">
                <a:latin typeface="Calibri Light" panose="020F0302020204030204" pitchFamily="34" charset="0"/>
                <a:ea typeface="Calibri Light" panose="020F0302020204030204" pitchFamily="34" charset="0"/>
                <a:cs typeface="Calibri Light" panose="020F0302020204030204" pitchFamily="34" charset="0"/>
              </a:rPr>
              <a:t>Process of Signal Transduction Cascades</a:t>
            </a:r>
            <a:endParaRPr lang="en-GB" dirty="0">
              <a:latin typeface="Calibri Light" panose="020F0302020204030204" pitchFamily="34" charset="0"/>
              <a:ea typeface="Calibri Light" panose="020F0302020204030204" pitchFamily="34" charset="0"/>
              <a:cs typeface="Calibri Light" panose="020F0302020204030204" pitchFamily="34" charset="0"/>
            </a:endParaRPr>
          </a:p>
          <a:p>
            <a:pPr marL="914400" lvl="1" indent="-457200" algn="just">
              <a:lnSpc>
                <a:spcPct val="150000"/>
              </a:lnSpc>
              <a:buFont typeface="+mj-lt"/>
              <a:buAutoNum type="arabicPeriod"/>
            </a:pPr>
            <a:r>
              <a:rPr lang="en-GB" dirty="0">
                <a:latin typeface="Calibri Light" panose="020F0302020204030204" pitchFamily="34" charset="0"/>
                <a:ea typeface="Calibri Light" panose="020F0302020204030204" pitchFamily="34" charset="0"/>
                <a:cs typeface="Calibri Light" panose="020F0302020204030204" pitchFamily="34" charset="0"/>
              </a:rPr>
              <a:t>An </a:t>
            </a:r>
            <a:r>
              <a:rPr lang="en-GB" b="1" dirty="0">
                <a:latin typeface="Calibri Light" panose="020F0302020204030204" pitchFamily="34" charset="0"/>
                <a:ea typeface="Calibri Light" panose="020F0302020204030204" pitchFamily="34" charset="0"/>
                <a:cs typeface="Calibri Light" panose="020F0302020204030204" pitchFamily="34" charset="0"/>
              </a:rPr>
              <a:t>Extracellular Signal (ligand)</a:t>
            </a:r>
            <a:r>
              <a:rPr lang="en-GB" dirty="0">
                <a:latin typeface="Calibri Light" panose="020F0302020204030204" pitchFamily="34" charset="0"/>
                <a:ea typeface="Calibri Light" panose="020F0302020204030204" pitchFamily="34" charset="0"/>
                <a:cs typeface="Calibri Light" panose="020F0302020204030204" pitchFamily="34" charset="0"/>
              </a:rPr>
              <a:t> binds to a cell-surface or intracellular Receptor.</a:t>
            </a:r>
          </a:p>
          <a:p>
            <a:pPr marL="914400" lvl="1" indent="-457200" algn="just">
              <a:lnSpc>
                <a:spcPct val="150000"/>
              </a:lnSpc>
              <a:buFont typeface="+mj-lt"/>
              <a:buAutoNum type="arabicPeriod"/>
            </a:pPr>
            <a:r>
              <a:rPr lang="en-GB" dirty="0">
                <a:latin typeface="Calibri Light" panose="020F0302020204030204" pitchFamily="34" charset="0"/>
                <a:ea typeface="Calibri Light" panose="020F0302020204030204" pitchFamily="34" charset="0"/>
                <a:cs typeface="Calibri Light" panose="020F0302020204030204" pitchFamily="34" charset="0"/>
              </a:rPr>
              <a:t>This </a:t>
            </a:r>
            <a:r>
              <a:rPr lang="en-GB" b="1" dirty="0">
                <a:latin typeface="Calibri Light" panose="020F0302020204030204" pitchFamily="34" charset="0"/>
                <a:ea typeface="Calibri Light" panose="020F0302020204030204" pitchFamily="34" charset="0"/>
                <a:cs typeface="Calibri Light" panose="020F0302020204030204" pitchFamily="34" charset="0"/>
              </a:rPr>
              <a:t>activates</a:t>
            </a:r>
            <a:r>
              <a:rPr lang="en-GB" dirty="0">
                <a:latin typeface="Calibri Light" panose="020F0302020204030204" pitchFamily="34" charset="0"/>
                <a:ea typeface="Calibri Light" panose="020F0302020204030204" pitchFamily="34" charset="0"/>
                <a:cs typeface="Calibri Light" panose="020F0302020204030204" pitchFamily="34" charset="0"/>
              </a:rPr>
              <a:t> a downstream cascade, often involving sequential activation of Protein Kinases.</a:t>
            </a:r>
          </a:p>
          <a:p>
            <a:pPr marL="914400" lvl="1" indent="-457200" algn="just">
              <a:lnSpc>
                <a:spcPct val="150000"/>
              </a:lnSpc>
              <a:buFont typeface="+mj-lt"/>
              <a:buAutoNum type="arabicPeriod"/>
            </a:pPr>
            <a:r>
              <a:rPr lang="en-GB" dirty="0">
                <a:latin typeface="Calibri Light" panose="020F0302020204030204" pitchFamily="34" charset="0"/>
                <a:ea typeface="Calibri Light" panose="020F0302020204030204" pitchFamily="34" charset="0"/>
                <a:cs typeface="Calibri Light" panose="020F0302020204030204" pitchFamily="34" charset="0"/>
              </a:rPr>
              <a:t>The final step </a:t>
            </a:r>
            <a:r>
              <a:rPr lang="en-GB" b="1" dirty="0">
                <a:latin typeface="Calibri Light" panose="020F0302020204030204" pitchFamily="34" charset="0"/>
                <a:ea typeface="Calibri Light" panose="020F0302020204030204" pitchFamily="34" charset="0"/>
                <a:cs typeface="Calibri Light" panose="020F0302020204030204" pitchFamily="34" charset="0"/>
              </a:rPr>
              <a:t>modifies a nuclear protein</a:t>
            </a:r>
            <a:r>
              <a:rPr lang="en-GB" dirty="0">
                <a:latin typeface="Calibri Light" panose="020F0302020204030204" pitchFamily="34" charset="0"/>
                <a:ea typeface="Calibri Light" panose="020F0302020204030204" pitchFamily="34" charset="0"/>
                <a:cs typeface="Calibri Light" panose="020F0302020204030204" pitchFamily="34" charset="0"/>
              </a:rPr>
              <a:t>: a Transcription Factor (TF) or a Chromatin Modifying Enzyme.</a:t>
            </a:r>
          </a:p>
        </p:txBody>
      </p:sp>
      <p:sp>
        <p:nvSpPr>
          <p:cNvPr id="8" name="Rectangle 7">
            <a:extLst>
              <a:ext uri="{FF2B5EF4-FFF2-40B4-BE49-F238E27FC236}">
                <a16:creationId xmlns:a16="http://schemas.microsoft.com/office/drawing/2014/main" id="{6ED87FB6-1E2B-DC7B-1FBF-19B88D0E2699}"/>
              </a:ext>
            </a:extLst>
          </p:cNvPr>
          <p:cNvSpPr/>
          <p:nvPr/>
        </p:nvSpPr>
        <p:spPr>
          <a:xfrm>
            <a:off x="4596939" y="2485506"/>
            <a:ext cx="2690553" cy="296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Tree>
    <p:extLst>
      <p:ext uri="{BB962C8B-B14F-4D97-AF65-F5344CB8AC3E}">
        <p14:creationId xmlns:p14="http://schemas.microsoft.com/office/powerpoint/2010/main" val="3147475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783567" y="131293"/>
            <a:ext cx="9805758" cy="661187"/>
          </a:xfrm>
        </p:spPr>
        <p:txBody>
          <a:bodyPr/>
          <a:lstStyle/>
          <a:p>
            <a:pPr algn="ctr">
              <a:lnSpc>
                <a:spcPct val="150000"/>
              </a:lnSpc>
            </a:pPr>
            <a:r>
              <a:rPr lang="en-GB" sz="2800" b="1" dirty="0">
                <a:latin typeface="Calibri Light" panose="020F0302020204030204" pitchFamily="34" charset="0"/>
                <a:ea typeface="Calibri Light" panose="020F0302020204030204" pitchFamily="34" charset="0"/>
                <a:cs typeface="Calibri Light" panose="020F0302020204030204" pitchFamily="34" charset="0"/>
              </a:rPr>
              <a:t>Gene expression is triggered by a signal from the cell environment</a:t>
            </a:r>
          </a:p>
        </p:txBody>
      </p:sp>
      <p:sp>
        <p:nvSpPr>
          <p:cNvPr id="5" name="TextBox 4">
            <a:extLst>
              <a:ext uri="{FF2B5EF4-FFF2-40B4-BE49-F238E27FC236}">
                <a16:creationId xmlns:a16="http://schemas.microsoft.com/office/drawing/2014/main" id="{8682FFC7-6AF7-699D-5D17-337218E5FC88}"/>
              </a:ext>
            </a:extLst>
          </p:cNvPr>
          <p:cNvSpPr txBox="1"/>
          <p:nvPr/>
        </p:nvSpPr>
        <p:spPr>
          <a:xfrm>
            <a:off x="4004235" y="6449708"/>
            <a:ext cx="7572188" cy="276999"/>
          </a:xfrm>
          <a:prstGeom prst="rect">
            <a:avLst/>
          </a:prstGeom>
          <a:noFill/>
        </p:spPr>
        <p:txBody>
          <a:bodyPr wrap="square">
            <a:spAutoFit/>
          </a:bodyPr>
          <a:lstStyle/>
          <a:p>
            <a:pPr algn="r"/>
            <a:r>
              <a:rPr lang="en-US" sz="1200" dirty="0">
                <a:latin typeface="Calibri Light" panose="020F0302020204030204" pitchFamily="34" charset="0"/>
              </a:rPr>
              <a:t>https://courses.lumenlearning.com/wm-nmbiology1/chapter/reading-expression-of-genes/</a:t>
            </a:r>
          </a:p>
        </p:txBody>
      </p:sp>
      <p:pic>
        <p:nvPicPr>
          <p:cNvPr id="4" name="Picture 3">
            <a:extLst>
              <a:ext uri="{FF2B5EF4-FFF2-40B4-BE49-F238E27FC236}">
                <a16:creationId xmlns:a16="http://schemas.microsoft.com/office/drawing/2014/main" id="{4AFD4EFB-EA6C-6FA2-5203-6571FD124919}"/>
              </a:ext>
            </a:extLst>
          </p:cNvPr>
          <p:cNvPicPr>
            <a:picLocks noChangeAspect="1"/>
          </p:cNvPicPr>
          <p:nvPr/>
        </p:nvPicPr>
        <p:blipFill>
          <a:blip r:embed="rId3"/>
          <a:stretch>
            <a:fillRect/>
          </a:stretch>
        </p:blipFill>
        <p:spPr>
          <a:xfrm>
            <a:off x="2277432" y="924212"/>
            <a:ext cx="6958925" cy="5477435"/>
          </a:xfrm>
          <a:prstGeom prst="rect">
            <a:avLst/>
          </a:prstGeom>
          <a:solidFill>
            <a:schemeClr val="tx1"/>
          </a:solidFill>
        </p:spPr>
      </p:pic>
    </p:spTree>
    <p:extLst>
      <p:ext uri="{BB962C8B-B14F-4D97-AF65-F5344CB8AC3E}">
        <p14:creationId xmlns:p14="http://schemas.microsoft.com/office/powerpoint/2010/main" val="1049423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US" sz="3600" b="1" dirty="0"/>
              <a:t>The Histone Octamer Core</a:t>
            </a:r>
          </a:p>
        </p:txBody>
      </p:sp>
      <p:pic>
        <p:nvPicPr>
          <p:cNvPr id="6" name="Picture 5">
            <a:extLst>
              <a:ext uri="{FF2B5EF4-FFF2-40B4-BE49-F238E27FC236}">
                <a16:creationId xmlns:a16="http://schemas.microsoft.com/office/drawing/2014/main" id="{5BE9BE13-AC57-20CF-0539-A0685DC61516}"/>
              </a:ext>
            </a:extLst>
          </p:cNvPr>
          <p:cNvPicPr>
            <a:picLocks noChangeAspect="1"/>
          </p:cNvPicPr>
          <p:nvPr/>
        </p:nvPicPr>
        <p:blipFill>
          <a:blip r:embed="rId3"/>
          <a:stretch>
            <a:fillRect/>
          </a:stretch>
        </p:blipFill>
        <p:spPr>
          <a:xfrm>
            <a:off x="46680" y="879503"/>
            <a:ext cx="6997458" cy="5538909"/>
          </a:xfrm>
          <a:prstGeom prst="rect">
            <a:avLst/>
          </a:prstGeom>
        </p:spPr>
      </p:pic>
      <p:pic>
        <p:nvPicPr>
          <p:cNvPr id="3" name="Picture 3">
            <a:extLst>
              <a:ext uri="{FF2B5EF4-FFF2-40B4-BE49-F238E27FC236}">
                <a16:creationId xmlns:a16="http://schemas.microsoft.com/office/drawing/2014/main" id="{CDA4F0C1-EBFD-D28F-9946-608FFD1657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315" y="1754935"/>
            <a:ext cx="5077666" cy="32519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8EE8CFC5-57F7-E084-FB43-74C3A32B1909}"/>
              </a:ext>
            </a:extLst>
          </p:cNvPr>
          <p:cNvSpPr/>
          <p:nvPr/>
        </p:nvSpPr>
        <p:spPr>
          <a:xfrm>
            <a:off x="5624945" y="4400204"/>
            <a:ext cx="1252451" cy="471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5" name="Rectangle 4">
            <a:extLst>
              <a:ext uri="{FF2B5EF4-FFF2-40B4-BE49-F238E27FC236}">
                <a16:creationId xmlns:a16="http://schemas.microsoft.com/office/drawing/2014/main" id="{7B5A0590-6856-0E4E-0024-6853AECFD7D3}"/>
              </a:ext>
            </a:extLst>
          </p:cNvPr>
          <p:cNvSpPr/>
          <p:nvPr/>
        </p:nvSpPr>
        <p:spPr>
          <a:xfrm>
            <a:off x="2407920" y="5200996"/>
            <a:ext cx="1787236" cy="471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C7FD981B-731A-74D1-3924-49374A2190CC}"/>
              </a:ext>
            </a:extLst>
          </p:cNvPr>
          <p:cNvSpPr/>
          <p:nvPr/>
        </p:nvSpPr>
        <p:spPr>
          <a:xfrm>
            <a:off x="10030691" y="1618211"/>
            <a:ext cx="1787236" cy="4710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75306806-90BC-C15A-1D8B-26EEC89ECAE0}"/>
              </a:ext>
            </a:extLst>
          </p:cNvPr>
          <p:cNvSpPr/>
          <p:nvPr/>
        </p:nvSpPr>
        <p:spPr>
          <a:xfrm>
            <a:off x="293716" y="1812175"/>
            <a:ext cx="498764" cy="347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
        <p:nvSpPr>
          <p:cNvPr id="9" name="Rectangle 8">
            <a:extLst>
              <a:ext uri="{FF2B5EF4-FFF2-40B4-BE49-F238E27FC236}">
                <a16:creationId xmlns:a16="http://schemas.microsoft.com/office/drawing/2014/main" id="{C5CE0E31-7434-D76B-2F05-75608B79256E}"/>
              </a:ext>
            </a:extLst>
          </p:cNvPr>
          <p:cNvSpPr/>
          <p:nvPr/>
        </p:nvSpPr>
        <p:spPr>
          <a:xfrm>
            <a:off x="4844893" y="1985919"/>
            <a:ext cx="498764" cy="347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e)</a:t>
            </a:r>
            <a:endParaRPr lang="en-US" dirty="0"/>
          </a:p>
        </p:txBody>
      </p:sp>
      <p:sp>
        <p:nvSpPr>
          <p:cNvPr id="10" name="Rectangle 9">
            <a:extLst>
              <a:ext uri="{FF2B5EF4-FFF2-40B4-BE49-F238E27FC236}">
                <a16:creationId xmlns:a16="http://schemas.microsoft.com/office/drawing/2014/main" id="{38BABC1E-7F55-A193-BEEA-C4612AE7728E}"/>
              </a:ext>
            </a:extLst>
          </p:cNvPr>
          <p:cNvSpPr/>
          <p:nvPr/>
        </p:nvSpPr>
        <p:spPr>
          <a:xfrm>
            <a:off x="646111" y="4942479"/>
            <a:ext cx="498764" cy="3474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a:t>
            </a:r>
            <a:endParaRPr lang="en-US" dirty="0"/>
          </a:p>
        </p:txBody>
      </p:sp>
    </p:spTree>
    <p:extLst>
      <p:ext uri="{BB962C8B-B14F-4D97-AF65-F5344CB8AC3E}">
        <p14:creationId xmlns:p14="http://schemas.microsoft.com/office/powerpoint/2010/main" val="3759663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US" sz="3600" b="1" dirty="0"/>
              <a:t>The Histone Octamer Core</a:t>
            </a:r>
          </a:p>
        </p:txBody>
      </p:sp>
      <p:pic>
        <p:nvPicPr>
          <p:cNvPr id="6" name="Picture 5">
            <a:extLst>
              <a:ext uri="{FF2B5EF4-FFF2-40B4-BE49-F238E27FC236}">
                <a16:creationId xmlns:a16="http://schemas.microsoft.com/office/drawing/2014/main" id="{5BE9BE13-AC57-20CF-0539-A0685DC61516}"/>
              </a:ext>
            </a:extLst>
          </p:cNvPr>
          <p:cNvPicPr>
            <a:picLocks noChangeAspect="1"/>
          </p:cNvPicPr>
          <p:nvPr/>
        </p:nvPicPr>
        <p:blipFill>
          <a:blip r:embed="rId3"/>
          <a:stretch>
            <a:fillRect/>
          </a:stretch>
        </p:blipFill>
        <p:spPr>
          <a:xfrm>
            <a:off x="46680" y="879503"/>
            <a:ext cx="6997458" cy="5538909"/>
          </a:xfrm>
          <a:prstGeom prst="rect">
            <a:avLst/>
          </a:prstGeom>
        </p:spPr>
      </p:pic>
      <p:pic>
        <p:nvPicPr>
          <p:cNvPr id="3" name="Picture 3">
            <a:extLst>
              <a:ext uri="{FF2B5EF4-FFF2-40B4-BE49-F238E27FC236}">
                <a16:creationId xmlns:a16="http://schemas.microsoft.com/office/drawing/2014/main" id="{CDA4F0C1-EBFD-D28F-9946-608FFD1657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315" y="1754935"/>
            <a:ext cx="5077666" cy="3251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410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US" sz="3600" b="1" dirty="0"/>
              <a:t>Chromatin in Interphase</a:t>
            </a:r>
          </a:p>
        </p:txBody>
      </p:sp>
      <p:sp>
        <p:nvSpPr>
          <p:cNvPr id="6" name="TextBox 5">
            <a:extLst>
              <a:ext uri="{FF2B5EF4-FFF2-40B4-BE49-F238E27FC236}">
                <a16:creationId xmlns:a16="http://schemas.microsoft.com/office/drawing/2014/main" id="{735145D0-E3BC-8A64-85F7-14CA32F8939E}"/>
              </a:ext>
            </a:extLst>
          </p:cNvPr>
          <p:cNvSpPr txBox="1"/>
          <p:nvPr/>
        </p:nvSpPr>
        <p:spPr>
          <a:xfrm>
            <a:off x="466162" y="1159435"/>
            <a:ext cx="6376898" cy="39130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2400" dirty="0">
                <a:latin typeface="Calibri Light" panose="020F0302020204030204" pitchFamily="34" charset="0"/>
                <a:ea typeface="Calibri Light" panose="020F0302020204030204" pitchFamily="34" charset="0"/>
                <a:cs typeface="Calibri Light" panose="020F0302020204030204" pitchFamily="34" charset="0"/>
              </a:rPr>
              <a:t>During the non-dividing state (Interphase), the nucleus exhibits two main chromatin states based on condensation:</a:t>
            </a:r>
          </a:p>
          <a:p>
            <a:pPr marL="800100" lvl="1" indent="-342900" algn="just">
              <a:lnSpc>
                <a:spcPct val="150000"/>
              </a:lnSpc>
              <a:buFont typeface="Wingdings" panose="05000000000000000000" pitchFamily="2" charset="2"/>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Euchromatin</a:t>
            </a:r>
            <a:r>
              <a:rPr lang="en-GB" sz="2400" dirty="0">
                <a:latin typeface="Calibri Light" panose="020F0302020204030204" pitchFamily="34" charset="0"/>
                <a:ea typeface="Calibri Light" panose="020F0302020204030204" pitchFamily="34" charset="0"/>
                <a:cs typeface="Calibri Light" panose="020F0302020204030204" pitchFamily="34" charset="0"/>
              </a:rPr>
              <a:t> (loosely packed, active)</a:t>
            </a:r>
          </a:p>
          <a:p>
            <a:pPr marL="800100" lvl="1" indent="-342900" algn="just">
              <a:lnSpc>
                <a:spcPct val="150000"/>
              </a:lnSpc>
              <a:buFont typeface="Wingdings" panose="05000000000000000000" pitchFamily="2" charset="2"/>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Heterochromatin</a:t>
            </a:r>
            <a:r>
              <a:rPr lang="en-GB" sz="2400" dirty="0">
                <a:latin typeface="Calibri Light" panose="020F0302020204030204" pitchFamily="34" charset="0"/>
                <a:ea typeface="Calibri Light" panose="020F0302020204030204" pitchFamily="34" charset="0"/>
                <a:cs typeface="Calibri Light" panose="020F0302020204030204" pitchFamily="34" charset="0"/>
              </a:rPr>
              <a:t> (tightly packed, silenced)</a:t>
            </a:r>
          </a:p>
          <a:p>
            <a:pPr marL="285750" indent="-285750" algn="just">
              <a:lnSpc>
                <a:spcPct val="150000"/>
              </a:lnSpc>
              <a:buFont typeface="Arial" panose="020B0604020202020204" pitchFamily="34" charset="0"/>
              <a:buChar char="•"/>
            </a:pPr>
            <a:r>
              <a:rPr lang="en-GB" sz="2400" dirty="0">
                <a:latin typeface="Calibri Light" panose="020F0302020204030204" pitchFamily="34" charset="0"/>
                <a:ea typeface="Calibri Light" panose="020F0302020204030204" pitchFamily="34" charset="0"/>
                <a:cs typeface="Calibri Light" panose="020F0302020204030204" pitchFamily="34" charset="0"/>
              </a:rPr>
              <a:t>These states are visible via microscopy and are the physical manifestation of epigenetic status.</a:t>
            </a: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3FEFBF50-AFDB-3EEB-3E06-219E9846B173}"/>
              </a:ext>
            </a:extLst>
          </p:cNvPr>
          <p:cNvPicPr>
            <a:picLocks noChangeAspect="1"/>
          </p:cNvPicPr>
          <p:nvPr/>
        </p:nvPicPr>
        <p:blipFill>
          <a:blip r:embed="rId3"/>
          <a:stretch>
            <a:fillRect/>
          </a:stretch>
        </p:blipFill>
        <p:spPr>
          <a:xfrm>
            <a:off x="7113082" y="1159435"/>
            <a:ext cx="4833883" cy="5099934"/>
          </a:xfrm>
          <a:prstGeom prst="rect">
            <a:avLst/>
          </a:prstGeom>
        </p:spPr>
      </p:pic>
      <p:sp>
        <p:nvSpPr>
          <p:cNvPr id="3" name="Rectangle 2">
            <a:extLst>
              <a:ext uri="{FF2B5EF4-FFF2-40B4-BE49-F238E27FC236}">
                <a16:creationId xmlns:a16="http://schemas.microsoft.com/office/drawing/2014/main" id="{A10F2319-33F5-85AF-3515-4B72B4317525}"/>
              </a:ext>
            </a:extLst>
          </p:cNvPr>
          <p:cNvSpPr/>
          <p:nvPr/>
        </p:nvSpPr>
        <p:spPr>
          <a:xfrm>
            <a:off x="8368145" y="5946371"/>
            <a:ext cx="1069571" cy="188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4" name="Rectangle 3">
            <a:extLst>
              <a:ext uri="{FF2B5EF4-FFF2-40B4-BE49-F238E27FC236}">
                <a16:creationId xmlns:a16="http://schemas.microsoft.com/office/drawing/2014/main" id="{3CDCFD0C-F284-E455-E826-F26D033A5658}"/>
              </a:ext>
            </a:extLst>
          </p:cNvPr>
          <p:cNvSpPr/>
          <p:nvPr/>
        </p:nvSpPr>
        <p:spPr>
          <a:xfrm>
            <a:off x="10205258" y="5946371"/>
            <a:ext cx="1069571" cy="188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1E1217EF-31F9-8AFE-916A-30C642487DBB}"/>
              </a:ext>
            </a:extLst>
          </p:cNvPr>
          <p:cNvSpPr/>
          <p:nvPr/>
        </p:nvSpPr>
        <p:spPr>
          <a:xfrm>
            <a:off x="8778240" y="5015345"/>
            <a:ext cx="659476" cy="188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5DE0EA5E-A6B5-D9A4-5753-3AFB9B75F659}"/>
              </a:ext>
            </a:extLst>
          </p:cNvPr>
          <p:cNvSpPr/>
          <p:nvPr/>
        </p:nvSpPr>
        <p:spPr>
          <a:xfrm>
            <a:off x="11014364" y="3726027"/>
            <a:ext cx="659476" cy="188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4022745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US" sz="3600" b="1" dirty="0"/>
              <a:t>Chromatin in Interphase</a:t>
            </a:r>
          </a:p>
        </p:txBody>
      </p:sp>
      <p:sp>
        <p:nvSpPr>
          <p:cNvPr id="6" name="TextBox 5">
            <a:extLst>
              <a:ext uri="{FF2B5EF4-FFF2-40B4-BE49-F238E27FC236}">
                <a16:creationId xmlns:a16="http://schemas.microsoft.com/office/drawing/2014/main" id="{735145D0-E3BC-8A64-85F7-14CA32F8939E}"/>
              </a:ext>
            </a:extLst>
          </p:cNvPr>
          <p:cNvSpPr txBox="1"/>
          <p:nvPr/>
        </p:nvSpPr>
        <p:spPr>
          <a:xfrm>
            <a:off x="466162" y="1159435"/>
            <a:ext cx="6376898" cy="39130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GB" sz="2400" dirty="0">
                <a:latin typeface="Calibri Light" panose="020F0302020204030204" pitchFamily="34" charset="0"/>
                <a:ea typeface="Calibri Light" panose="020F0302020204030204" pitchFamily="34" charset="0"/>
                <a:cs typeface="Calibri Light" panose="020F0302020204030204" pitchFamily="34" charset="0"/>
              </a:rPr>
              <a:t>During the non-dividing state (Interphase), the nucleus exhibits two main chromatin states based on condensation:</a:t>
            </a:r>
          </a:p>
          <a:p>
            <a:pPr marL="800100" lvl="1" indent="-342900" algn="just">
              <a:lnSpc>
                <a:spcPct val="150000"/>
              </a:lnSpc>
              <a:buFont typeface="Wingdings" panose="05000000000000000000" pitchFamily="2" charset="2"/>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Euchromatin</a:t>
            </a:r>
            <a:r>
              <a:rPr lang="en-GB" sz="2400" dirty="0">
                <a:latin typeface="Calibri Light" panose="020F0302020204030204" pitchFamily="34" charset="0"/>
                <a:ea typeface="Calibri Light" panose="020F0302020204030204" pitchFamily="34" charset="0"/>
                <a:cs typeface="Calibri Light" panose="020F0302020204030204" pitchFamily="34" charset="0"/>
              </a:rPr>
              <a:t> (loosely packed, active)</a:t>
            </a:r>
          </a:p>
          <a:p>
            <a:pPr marL="800100" lvl="1" indent="-342900" algn="just">
              <a:lnSpc>
                <a:spcPct val="150000"/>
              </a:lnSpc>
              <a:buFont typeface="Wingdings" panose="05000000000000000000" pitchFamily="2" charset="2"/>
              <a:buChar char="§"/>
            </a:pPr>
            <a:r>
              <a:rPr lang="en-GB" sz="2400" b="1" dirty="0">
                <a:latin typeface="Calibri Light" panose="020F0302020204030204" pitchFamily="34" charset="0"/>
                <a:ea typeface="Calibri Light" panose="020F0302020204030204" pitchFamily="34" charset="0"/>
                <a:cs typeface="Calibri Light" panose="020F0302020204030204" pitchFamily="34" charset="0"/>
              </a:rPr>
              <a:t>Heterochromatin</a:t>
            </a:r>
            <a:r>
              <a:rPr lang="en-GB" sz="2400" dirty="0">
                <a:latin typeface="Calibri Light" panose="020F0302020204030204" pitchFamily="34" charset="0"/>
                <a:ea typeface="Calibri Light" panose="020F0302020204030204" pitchFamily="34" charset="0"/>
                <a:cs typeface="Calibri Light" panose="020F0302020204030204" pitchFamily="34" charset="0"/>
              </a:rPr>
              <a:t> (tightly packed, silenced)</a:t>
            </a:r>
          </a:p>
          <a:p>
            <a:pPr marL="285750" indent="-285750" algn="just">
              <a:lnSpc>
                <a:spcPct val="150000"/>
              </a:lnSpc>
              <a:buFont typeface="Arial" panose="020B0604020202020204" pitchFamily="34" charset="0"/>
              <a:buChar char="•"/>
            </a:pPr>
            <a:r>
              <a:rPr lang="en-GB" sz="2400" dirty="0">
                <a:latin typeface="Calibri Light" panose="020F0302020204030204" pitchFamily="34" charset="0"/>
                <a:ea typeface="Calibri Light" panose="020F0302020204030204" pitchFamily="34" charset="0"/>
                <a:cs typeface="Calibri Light" panose="020F0302020204030204" pitchFamily="34" charset="0"/>
              </a:rPr>
              <a:t>These states are visible via microscopy and are the physical manifestation of epigenetic status.</a:t>
            </a: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3FEFBF50-AFDB-3EEB-3E06-219E9846B173}"/>
              </a:ext>
            </a:extLst>
          </p:cNvPr>
          <p:cNvPicPr>
            <a:picLocks noChangeAspect="1"/>
          </p:cNvPicPr>
          <p:nvPr/>
        </p:nvPicPr>
        <p:blipFill>
          <a:blip r:embed="rId3"/>
          <a:stretch>
            <a:fillRect/>
          </a:stretch>
        </p:blipFill>
        <p:spPr>
          <a:xfrm>
            <a:off x="7113082" y="1159435"/>
            <a:ext cx="4833883" cy="5099934"/>
          </a:xfrm>
          <a:prstGeom prst="rect">
            <a:avLst/>
          </a:prstGeom>
        </p:spPr>
      </p:pic>
    </p:spTree>
    <p:extLst>
      <p:ext uri="{BB962C8B-B14F-4D97-AF65-F5344CB8AC3E}">
        <p14:creationId xmlns:p14="http://schemas.microsoft.com/office/powerpoint/2010/main" val="1233507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GB" sz="3600" b="1" dirty="0"/>
              <a:t>Nuclear Periphery and Silencing</a:t>
            </a:r>
            <a:endParaRPr lang="en-US" sz="3600" b="1" dirty="0"/>
          </a:p>
        </p:txBody>
      </p:sp>
      <p:pic>
        <p:nvPicPr>
          <p:cNvPr id="5" name="Picture 4">
            <a:extLst>
              <a:ext uri="{FF2B5EF4-FFF2-40B4-BE49-F238E27FC236}">
                <a16:creationId xmlns:a16="http://schemas.microsoft.com/office/drawing/2014/main" id="{7C36E613-1A11-0A68-B8E0-2224D53F5DB5}"/>
              </a:ext>
            </a:extLst>
          </p:cNvPr>
          <p:cNvPicPr>
            <a:picLocks noChangeAspect="1"/>
          </p:cNvPicPr>
          <p:nvPr/>
        </p:nvPicPr>
        <p:blipFill>
          <a:blip r:embed="rId3"/>
          <a:stretch>
            <a:fillRect/>
          </a:stretch>
        </p:blipFill>
        <p:spPr>
          <a:xfrm>
            <a:off x="2538153" y="983038"/>
            <a:ext cx="5779399" cy="5743669"/>
          </a:xfrm>
          <a:prstGeom prst="rect">
            <a:avLst/>
          </a:prstGeom>
        </p:spPr>
      </p:pic>
      <p:sp>
        <p:nvSpPr>
          <p:cNvPr id="3" name="Rectangle 2">
            <a:extLst>
              <a:ext uri="{FF2B5EF4-FFF2-40B4-BE49-F238E27FC236}">
                <a16:creationId xmlns:a16="http://schemas.microsoft.com/office/drawing/2014/main" id="{58427625-B655-3F31-6E40-CFC2A7D42448}"/>
              </a:ext>
            </a:extLst>
          </p:cNvPr>
          <p:cNvSpPr/>
          <p:nvPr/>
        </p:nvSpPr>
        <p:spPr>
          <a:xfrm>
            <a:off x="4405745" y="1036320"/>
            <a:ext cx="1263535" cy="38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4" name="Rectangle 3">
            <a:extLst>
              <a:ext uri="{FF2B5EF4-FFF2-40B4-BE49-F238E27FC236}">
                <a16:creationId xmlns:a16="http://schemas.microsoft.com/office/drawing/2014/main" id="{AF45A37F-B8EB-D607-4924-C91B4AC89ECB}"/>
              </a:ext>
            </a:extLst>
          </p:cNvPr>
          <p:cNvSpPr/>
          <p:nvPr/>
        </p:nvSpPr>
        <p:spPr>
          <a:xfrm>
            <a:off x="6361648" y="1088967"/>
            <a:ext cx="1263535" cy="38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7" name="Rectangle 6">
            <a:extLst>
              <a:ext uri="{FF2B5EF4-FFF2-40B4-BE49-F238E27FC236}">
                <a16:creationId xmlns:a16="http://schemas.microsoft.com/office/drawing/2014/main" id="{60C38172-7BC1-B5AE-5B34-D6A597784ADD}"/>
              </a:ext>
            </a:extLst>
          </p:cNvPr>
          <p:cNvSpPr/>
          <p:nvPr/>
        </p:nvSpPr>
        <p:spPr>
          <a:xfrm>
            <a:off x="2762596" y="4087091"/>
            <a:ext cx="1263535" cy="38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8" name="Rectangle 7">
            <a:extLst>
              <a:ext uri="{FF2B5EF4-FFF2-40B4-BE49-F238E27FC236}">
                <a16:creationId xmlns:a16="http://schemas.microsoft.com/office/drawing/2014/main" id="{2CE38CEA-26EA-FFFE-E5D8-B16ACF085BA8}"/>
              </a:ext>
            </a:extLst>
          </p:cNvPr>
          <p:cNvSpPr/>
          <p:nvPr/>
        </p:nvSpPr>
        <p:spPr>
          <a:xfrm>
            <a:off x="2762596" y="5433973"/>
            <a:ext cx="1263535" cy="382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2227997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ECC3-E5B6-66D0-0F50-63B59B00E4FA}"/>
              </a:ext>
            </a:extLst>
          </p:cNvPr>
          <p:cNvSpPr>
            <a:spLocks noGrp="1"/>
          </p:cNvSpPr>
          <p:nvPr>
            <p:ph type="title"/>
          </p:nvPr>
        </p:nvSpPr>
        <p:spPr>
          <a:xfrm>
            <a:off x="646111" y="131293"/>
            <a:ext cx="9805758" cy="661187"/>
          </a:xfrm>
        </p:spPr>
        <p:txBody>
          <a:bodyPr/>
          <a:lstStyle/>
          <a:p>
            <a:pPr algn="ctr"/>
            <a:r>
              <a:rPr lang="en-GB" sz="3600" b="1" dirty="0"/>
              <a:t>Nuclear Periphery and Silencing</a:t>
            </a:r>
            <a:endParaRPr lang="en-US" sz="3600" b="1" dirty="0"/>
          </a:p>
        </p:txBody>
      </p:sp>
      <p:sp>
        <p:nvSpPr>
          <p:cNvPr id="6" name="TextBox 5">
            <a:extLst>
              <a:ext uri="{FF2B5EF4-FFF2-40B4-BE49-F238E27FC236}">
                <a16:creationId xmlns:a16="http://schemas.microsoft.com/office/drawing/2014/main" id="{735145D0-E3BC-8A64-85F7-14CA32F8939E}"/>
              </a:ext>
            </a:extLst>
          </p:cNvPr>
          <p:cNvSpPr txBox="1"/>
          <p:nvPr/>
        </p:nvSpPr>
        <p:spPr>
          <a:xfrm>
            <a:off x="466162" y="1440328"/>
            <a:ext cx="5856944" cy="4401205"/>
          </a:xfrm>
          <a:prstGeom prst="rect">
            <a:avLst/>
          </a:prstGeom>
          <a:noFill/>
        </p:spPr>
        <p:txBody>
          <a:bodyPr wrap="square">
            <a:spAutoFit/>
          </a:bodyPr>
          <a:lstStyle/>
          <a:p>
            <a:pPr marL="285750" indent="-285750" algn="jus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Nuclear Lamina</a:t>
            </a:r>
            <a:r>
              <a:rPr lang="en-GB" sz="2800" dirty="0">
                <a:latin typeface="Calibri Light" panose="020F0302020204030204" pitchFamily="34" charset="0"/>
                <a:ea typeface="Calibri Light" panose="020F0302020204030204" pitchFamily="34" charset="0"/>
                <a:cs typeface="Calibri Light" panose="020F0302020204030204" pitchFamily="34" charset="0"/>
              </a:rPr>
              <a:t>: A protein meshwork beneath the inner nuclear membrane.</a:t>
            </a:r>
          </a:p>
          <a:p>
            <a:pPr marL="285750" indent="-285750" algn="jus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Lamin-Associated Domains (LADs)</a:t>
            </a:r>
            <a:r>
              <a:rPr lang="en-GB" sz="2800" dirty="0">
                <a:latin typeface="Calibri Light" panose="020F0302020204030204" pitchFamily="34" charset="0"/>
                <a:ea typeface="Calibri Light" panose="020F0302020204030204" pitchFamily="34" charset="0"/>
                <a:cs typeface="Calibri Light" panose="020F0302020204030204" pitchFamily="34" charset="0"/>
              </a:rPr>
              <a:t>: Large regions of heterochromatin that are physically anchored to the Nuclear Lamina.</a:t>
            </a:r>
          </a:p>
          <a:p>
            <a:pPr marL="285750" indent="-285750" algn="just">
              <a:buFont typeface="Arial" panose="020B0604020202020204" pitchFamily="34" charset="0"/>
              <a:buChar char="•"/>
            </a:pPr>
            <a:r>
              <a:rPr lang="en-GB" sz="2800" b="1" dirty="0">
                <a:latin typeface="Calibri Light" panose="020F0302020204030204" pitchFamily="34" charset="0"/>
                <a:ea typeface="Calibri Light" panose="020F0302020204030204" pitchFamily="34" charset="0"/>
                <a:cs typeface="Calibri Light" panose="020F0302020204030204" pitchFamily="34" charset="0"/>
              </a:rPr>
              <a:t>Consequence</a:t>
            </a:r>
            <a:r>
              <a:rPr lang="en-GB" sz="2800" dirty="0">
                <a:latin typeface="Calibri Light" panose="020F0302020204030204" pitchFamily="34" charset="0"/>
                <a:ea typeface="Calibri Light" panose="020F0302020204030204" pitchFamily="34" charset="0"/>
                <a:cs typeface="Calibri Light" panose="020F0302020204030204" pitchFamily="34" charset="0"/>
              </a:rPr>
              <a:t>: Tethering to the periphery is strongly associated with stable, long-term gene silencing.</a:t>
            </a:r>
            <a:endParaRPr lang="en-US" sz="28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7C36E613-1A11-0A68-B8E0-2224D53F5DB5}"/>
              </a:ext>
            </a:extLst>
          </p:cNvPr>
          <p:cNvPicPr>
            <a:picLocks noChangeAspect="1"/>
          </p:cNvPicPr>
          <p:nvPr/>
        </p:nvPicPr>
        <p:blipFill>
          <a:blip r:embed="rId3"/>
          <a:stretch>
            <a:fillRect/>
          </a:stretch>
        </p:blipFill>
        <p:spPr>
          <a:xfrm>
            <a:off x="6645406" y="1085369"/>
            <a:ext cx="5180117" cy="5148092"/>
          </a:xfrm>
          <a:prstGeom prst="rect">
            <a:avLst/>
          </a:prstGeom>
        </p:spPr>
      </p:pic>
    </p:spTree>
    <p:extLst>
      <p:ext uri="{BB962C8B-B14F-4D97-AF65-F5344CB8AC3E}">
        <p14:creationId xmlns:p14="http://schemas.microsoft.com/office/powerpoint/2010/main" val="1442422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910243" y="2404514"/>
            <a:ext cx="10515600" cy="1325563"/>
          </a:xfrm>
        </p:spPr>
        <p:txBody>
          <a:bodyPr>
            <a:normAutofit/>
          </a:bodyPr>
          <a:lstStyle/>
          <a:p>
            <a:pPr algn="ctr"/>
            <a:r>
              <a:rPr lang="en-GB" sz="6600" b="1" dirty="0"/>
              <a:t>Interpretation</a:t>
            </a:r>
            <a:endParaRPr lang="en-US" sz="6600" b="1" dirty="0">
              <a:solidFill>
                <a:srgbClr val="7030A0"/>
              </a:solidFill>
            </a:endParaRPr>
          </a:p>
        </p:txBody>
      </p:sp>
    </p:spTree>
    <p:extLst>
      <p:ext uri="{BB962C8B-B14F-4D97-AF65-F5344CB8AC3E}">
        <p14:creationId xmlns:p14="http://schemas.microsoft.com/office/powerpoint/2010/main" val="3598373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65760" y="276454"/>
            <a:ext cx="11532524" cy="903951"/>
          </a:xfrm>
        </p:spPr>
        <p:txBody>
          <a:bodyPr>
            <a:noAutofit/>
          </a:bodyPr>
          <a:lstStyle/>
          <a:p>
            <a:pPr algn="ctr"/>
            <a:r>
              <a:rPr lang="en-GB" sz="2600" b="1" i="0" dirty="0">
                <a:solidFill>
                  <a:schemeClr val="tx1"/>
                </a:solidFill>
                <a:effectLst/>
              </a:rPr>
              <a:t>In mice, a lack of maternal iron impairs an iron-dependent enzyme that activates the male sex-determining gene, causing some XY embryos to develop ovaries</a:t>
            </a:r>
            <a:endParaRPr lang="en-US" sz="2600" b="1" dirty="0">
              <a:solidFill>
                <a:schemeClr val="tx1"/>
              </a:solidFill>
            </a:endParaRPr>
          </a:p>
        </p:txBody>
      </p:sp>
      <p:pic>
        <p:nvPicPr>
          <p:cNvPr id="1026" name="Picture 2">
            <a:extLst>
              <a:ext uri="{FF2B5EF4-FFF2-40B4-BE49-F238E27FC236}">
                <a16:creationId xmlns:a16="http://schemas.microsoft.com/office/drawing/2014/main" id="{85470FA0-D4C9-60B1-8D94-A76A990CF0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51390" y="1459865"/>
            <a:ext cx="8758702" cy="49298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028B51-A141-7215-6B32-D9D9091922E1}"/>
              </a:ext>
            </a:extLst>
          </p:cNvPr>
          <p:cNvSpPr txBox="1"/>
          <p:nvPr/>
        </p:nvSpPr>
        <p:spPr>
          <a:xfrm>
            <a:off x="9537469" y="1947545"/>
            <a:ext cx="2189018" cy="3693319"/>
          </a:xfrm>
          <a:prstGeom prst="rect">
            <a:avLst/>
          </a:prstGeom>
          <a:noFill/>
        </p:spPr>
        <p:txBody>
          <a:bodyPr wrap="square">
            <a:spAutoFit/>
          </a:bodyPr>
          <a:lstStyle/>
          <a:p>
            <a:r>
              <a:rPr lang="en-GB" b="0" i="0" dirty="0">
                <a:effectLst/>
                <a:latin typeface="Calibri Light" panose="020F0302020204030204" pitchFamily="34" charset="0"/>
              </a:rPr>
              <a:t>KDM3A is a histone lysine demethylase, meaning it removes methyl groups from lysine residues on histones. Specifically, it demethylates H3K9me2 and H3K9me1, making it a crucial enzyme for regulating gene expression and chromatin structure.</a:t>
            </a:r>
            <a:endParaRPr lang="en-US" dirty="0">
              <a:latin typeface="Calibri Light" panose="020F0302020204030204" pitchFamily="34" charset="0"/>
            </a:endParaRPr>
          </a:p>
        </p:txBody>
      </p:sp>
    </p:spTree>
    <p:extLst>
      <p:ext uri="{BB962C8B-B14F-4D97-AF65-F5344CB8AC3E}">
        <p14:creationId xmlns:p14="http://schemas.microsoft.com/office/powerpoint/2010/main" val="1409703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400" b="1" i="0" dirty="0">
                <a:solidFill>
                  <a:schemeClr val="tx1"/>
                </a:solidFill>
                <a:effectLst/>
              </a:rPr>
              <a:t>Gut microbiota-derived short-chain fatty acids and their role in human health and disease</a:t>
            </a:r>
            <a:endParaRPr lang="en-US" sz="24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51658" y="6357232"/>
            <a:ext cx="11382895" cy="307777"/>
          </a:xfrm>
          <a:prstGeom prst="rect">
            <a:avLst/>
          </a:prstGeom>
          <a:noFill/>
        </p:spPr>
        <p:txBody>
          <a:bodyPr wrap="square">
            <a:spAutoFit/>
          </a:bodyPr>
          <a:lstStyle/>
          <a:p>
            <a:r>
              <a:rPr lang="en-GB" sz="1400" b="0" i="0" dirty="0">
                <a:effectLst/>
                <a:latin typeface="Calibri Light" panose="020F0302020204030204" pitchFamily="34" charset="0"/>
              </a:rPr>
              <a:t>https://www.nature.com/articles/s41579-025-01183-w</a:t>
            </a:r>
            <a:endParaRPr lang="en-US" sz="1400" dirty="0">
              <a:latin typeface="Calibri Light" panose="020F0302020204030204" pitchFamily="34" charset="0"/>
            </a:endParaRPr>
          </a:p>
        </p:txBody>
      </p:sp>
      <p:pic>
        <p:nvPicPr>
          <p:cNvPr id="9218" name="Picture 2" descr="Molecular interactions of SCFAs with the host.">
            <a:extLst>
              <a:ext uri="{FF2B5EF4-FFF2-40B4-BE49-F238E27FC236}">
                <a16:creationId xmlns:a16="http://schemas.microsoft.com/office/drawing/2014/main" id="{6FF70AC0-1EDA-A433-748F-4C1796A0E2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19" y="791168"/>
            <a:ext cx="8604567" cy="54914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F55A592-5C0F-3F2C-849B-77D4A4B83428}"/>
              </a:ext>
            </a:extLst>
          </p:cNvPr>
          <p:cNvSpPr txBox="1"/>
          <p:nvPr/>
        </p:nvSpPr>
        <p:spPr>
          <a:xfrm>
            <a:off x="9077498" y="1032050"/>
            <a:ext cx="2881745" cy="5047536"/>
          </a:xfrm>
          <a:prstGeom prst="rect">
            <a:avLst/>
          </a:prstGeom>
          <a:noFill/>
        </p:spPr>
        <p:txBody>
          <a:bodyPr wrap="square">
            <a:spAutoFit/>
          </a:bodyPr>
          <a:lstStyle/>
          <a:p>
            <a:r>
              <a:rPr lang="en-GB" sz="1400" b="0" i="0" dirty="0">
                <a:effectLst/>
                <a:latin typeface="Calibri Light" panose="020F0302020204030204" pitchFamily="34" charset="0"/>
              </a:rPr>
              <a:t>Short-chain fatty acids (SCFAs) are a group of organic compounds produced by the fermentation of dietary fibre by the human gut microbiota. They play diverse roles in different physiological processes of the host with implications for human health and disease. This Review provides an overview of the complex microbial metabolism underlying SCFA formation, considering microbial interactions and modulating factors of the gut environment. We explore the multifaceted mechanistic interactions between SCFAs and the host, with a particular focus on the local actions of SCFAs in the gut and their complex interactions with the immune system. We also discuss how these actions influence intestinal and extraintestinal diseases and emerging therapeutic strategies using SCFAs.</a:t>
            </a:r>
            <a:endParaRPr lang="en-US" sz="1400" dirty="0">
              <a:latin typeface="Calibri Light" panose="020F0302020204030204" pitchFamily="34" charset="0"/>
            </a:endParaRPr>
          </a:p>
        </p:txBody>
      </p:sp>
    </p:spTree>
    <p:extLst>
      <p:ext uri="{BB962C8B-B14F-4D97-AF65-F5344CB8AC3E}">
        <p14:creationId xmlns:p14="http://schemas.microsoft.com/office/powerpoint/2010/main" val="1097801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117959"/>
            <a:ext cx="11532524" cy="430679"/>
          </a:xfrm>
        </p:spPr>
        <p:txBody>
          <a:bodyPr>
            <a:noAutofit/>
          </a:bodyPr>
          <a:lstStyle/>
          <a:p>
            <a:pPr algn="ctr"/>
            <a:r>
              <a:rPr lang="en-GB" sz="2600" b="1" i="0" dirty="0">
                <a:solidFill>
                  <a:schemeClr val="tx1"/>
                </a:solidFill>
                <a:effectLst/>
              </a:rPr>
              <a:t>The </a:t>
            </a:r>
            <a:r>
              <a:rPr lang="en-GB" sz="2600" b="1" i="0" dirty="0" err="1">
                <a:solidFill>
                  <a:schemeClr val="tx1"/>
                </a:solidFill>
                <a:effectLst/>
              </a:rPr>
              <a:t>Fetal</a:t>
            </a:r>
            <a:r>
              <a:rPr lang="en-GB" sz="2600" b="1" i="0" dirty="0">
                <a:solidFill>
                  <a:schemeClr val="tx1"/>
                </a:solidFill>
                <a:effectLst/>
              </a:rPr>
              <a:t>-to-Adult </a:t>
            </a:r>
            <a:r>
              <a:rPr lang="en-GB" sz="2600" b="1" i="0" dirty="0" err="1">
                <a:solidFill>
                  <a:schemeClr val="tx1"/>
                </a:solidFill>
                <a:effectLst/>
              </a:rPr>
              <a:t>Hemoglobin</a:t>
            </a:r>
            <a:r>
              <a:rPr lang="en-GB" sz="2600" b="1" i="0" dirty="0">
                <a:solidFill>
                  <a:schemeClr val="tx1"/>
                </a:solidFill>
                <a:effectLst/>
              </a:rPr>
              <a:t> Switch — Mechanism and Therapy</a:t>
            </a:r>
            <a:endParaRPr lang="en-US" sz="2600" b="1" dirty="0">
              <a:solidFill>
                <a:schemeClr val="tx1"/>
              </a:solidFill>
            </a:endParaRPr>
          </a:p>
        </p:txBody>
      </p:sp>
      <p:pic>
        <p:nvPicPr>
          <p:cNvPr id="3074" name="Picture 2" descr="A figure showing hemoglobin switching">
            <a:extLst>
              <a:ext uri="{FF2B5EF4-FFF2-40B4-BE49-F238E27FC236}">
                <a16:creationId xmlns:a16="http://schemas.microsoft.com/office/drawing/2014/main" id="{01F4F47B-A788-078E-D6B9-00754722D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345" y="807524"/>
            <a:ext cx="5932517" cy="59325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B5F3A6-3AF4-D9BB-DD36-6C900EA4AA77}"/>
              </a:ext>
            </a:extLst>
          </p:cNvPr>
          <p:cNvSpPr txBox="1"/>
          <p:nvPr/>
        </p:nvSpPr>
        <p:spPr>
          <a:xfrm>
            <a:off x="9570720" y="6432264"/>
            <a:ext cx="2510444" cy="307777"/>
          </a:xfrm>
          <a:prstGeom prst="rect">
            <a:avLst/>
          </a:prstGeom>
          <a:noFill/>
        </p:spPr>
        <p:txBody>
          <a:bodyPr wrap="square">
            <a:spAutoFit/>
          </a:bodyPr>
          <a:lstStyle/>
          <a:p>
            <a:r>
              <a:rPr lang="en-US" sz="1400" b="1" i="0" dirty="0">
                <a:effectLst/>
                <a:latin typeface="Calibri Light" panose="020F0302020204030204" pitchFamily="34" charset="0"/>
              </a:rPr>
              <a:t>DOI: 10.1056/NEJMra2405260</a:t>
            </a:r>
            <a:endParaRPr lang="en-US" sz="1400" dirty="0">
              <a:latin typeface="Calibri Light" panose="020F0302020204030204" pitchFamily="34" charset="0"/>
            </a:endParaRPr>
          </a:p>
        </p:txBody>
      </p:sp>
      <p:sp>
        <p:nvSpPr>
          <p:cNvPr id="5" name="TextBox 4">
            <a:extLst>
              <a:ext uri="{FF2B5EF4-FFF2-40B4-BE49-F238E27FC236}">
                <a16:creationId xmlns:a16="http://schemas.microsoft.com/office/drawing/2014/main" id="{2D0358B7-966B-8A1C-CD43-5C2E1DFEE06F}"/>
              </a:ext>
            </a:extLst>
          </p:cNvPr>
          <p:cNvSpPr txBox="1"/>
          <p:nvPr/>
        </p:nvSpPr>
        <p:spPr>
          <a:xfrm>
            <a:off x="7442661" y="3237407"/>
            <a:ext cx="3884815" cy="369332"/>
          </a:xfrm>
          <a:prstGeom prst="rect">
            <a:avLst/>
          </a:prstGeom>
          <a:noFill/>
        </p:spPr>
        <p:txBody>
          <a:bodyPr wrap="square">
            <a:spAutoFit/>
          </a:bodyPr>
          <a:lstStyle/>
          <a:p>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L</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ocus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C</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ontrol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R</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egion</a:t>
            </a:r>
            <a:r>
              <a:rPr lang="en-US" b="0" i="0" dirty="0">
                <a:effectLst/>
                <a:latin typeface="ElsevierGulliver"/>
              </a:rPr>
              <a:t> (LCR) </a:t>
            </a:r>
            <a:endParaRPr lang="en-US" dirty="0"/>
          </a:p>
        </p:txBody>
      </p:sp>
      <p:sp>
        <p:nvSpPr>
          <p:cNvPr id="8" name="Rectangle 7">
            <a:extLst>
              <a:ext uri="{FF2B5EF4-FFF2-40B4-BE49-F238E27FC236}">
                <a16:creationId xmlns:a16="http://schemas.microsoft.com/office/drawing/2014/main" id="{6BAAC9AC-412D-71CA-190F-ED9ACA0B32FD}"/>
              </a:ext>
            </a:extLst>
          </p:cNvPr>
          <p:cNvSpPr/>
          <p:nvPr/>
        </p:nvSpPr>
        <p:spPr>
          <a:xfrm>
            <a:off x="4112029" y="4095404"/>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endParaRPr lang="en-US" dirty="0"/>
          </a:p>
        </p:txBody>
      </p:sp>
      <p:sp>
        <p:nvSpPr>
          <p:cNvPr id="9" name="Rectangle 8">
            <a:extLst>
              <a:ext uri="{FF2B5EF4-FFF2-40B4-BE49-F238E27FC236}">
                <a16:creationId xmlns:a16="http://schemas.microsoft.com/office/drawing/2014/main" id="{2AF39078-7685-0582-550B-0BB70AE3B785}"/>
              </a:ext>
            </a:extLst>
          </p:cNvPr>
          <p:cNvSpPr/>
          <p:nvPr/>
        </p:nvSpPr>
        <p:spPr>
          <a:xfrm>
            <a:off x="5192683" y="4095404"/>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endParaRPr lang="en-US" dirty="0"/>
          </a:p>
        </p:txBody>
      </p:sp>
      <p:sp>
        <p:nvSpPr>
          <p:cNvPr id="10" name="Rectangle 9">
            <a:extLst>
              <a:ext uri="{FF2B5EF4-FFF2-40B4-BE49-F238E27FC236}">
                <a16:creationId xmlns:a16="http://schemas.microsoft.com/office/drawing/2014/main" id="{9CC7B639-F6E7-B688-7101-7339C798C1A0}"/>
              </a:ext>
            </a:extLst>
          </p:cNvPr>
          <p:cNvSpPr/>
          <p:nvPr/>
        </p:nvSpPr>
        <p:spPr>
          <a:xfrm>
            <a:off x="4851861" y="5717967"/>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t>
            </a:r>
            <a:endParaRPr lang="en-US" dirty="0"/>
          </a:p>
        </p:txBody>
      </p:sp>
      <p:sp>
        <p:nvSpPr>
          <p:cNvPr id="11" name="Rectangle 10">
            <a:extLst>
              <a:ext uri="{FF2B5EF4-FFF2-40B4-BE49-F238E27FC236}">
                <a16:creationId xmlns:a16="http://schemas.microsoft.com/office/drawing/2014/main" id="{7538C765-68B5-6BEA-38F9-28C71DC1A15B}"/>
              </a:ext>
            </a:extLst>
          </p:cNvPr>
          <p:cNvSpPr/>
          <p:nvPr/>
        </p:nvSpPr>
        <p:spPr>
          <a:xfrm>
            <a:off x="2172392" y="5249683"/>
            <a:ext cx="432262" cy="3325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
            </a:r>
            <a:endParaRPr lang="en-US" dirty="0"/>
          </a:p>
        </p:txBody>
      </p:sp>
    </p:spTree>
    <p:extLst>
      <p:ext uri="{BB962C8B-B14F-4D97-AF65-F5344CB8AC3E}">
        <p14:creationId xmlns:p14="http://schemas.microsoft.com/office/powerpoint/2010/main" val="2721572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117959"/>
            <a:ext cx="11532524" cy="430679"/>
          </a:xfrm>
        </p:spPr>
        <p:txBody>
          <a:bodyPr>
            <a:noAutofit/>
          </a:bodyPr>
          <a:lstStyle/>
          <a:p>
            <a:pPr algn="ctr"/>
            <a:r>
              <a:rPr lang="en-GB" sz="2600" b="1" i="0" dirty="0">
                <a:solidFill>
                  <a:schemeClr val="tx1"/>
                </a:solidFill>
                <a:effectLst/>
              </a:rPr>
              <a:t>The </a:t>
            </a:r>
            <a:r>
              <a:rPr lang="en-GB" sz="2600" b="1" i="0" dirty="0" err="1">
                <a:solidFill>
                  <a:schemeClr val="tx1"/>
                </a:solidFill>
                <a:effectLst/>
              </a:rPr>
              <a:t>Fetal</a:t>
            </a:r>
            <a:r>
              <a:rPr lang="en-GB" sz="2600" b="1" i="0" dirty="0">
                <a:solidFill>
                  <a:schemeClr val="tx1"/>
                </a:solidFill>
                <a:effectLst/>
              </a:rPr>
              <a:t>-to-Adult </a:t>
            </a:r>
            <a:r>
              <a:rPr lang="en-GB" sz="2600" b="1" i="0" dirty="0" err="1">
                <a:solidFill>
                  <a:schemeClr val="tx1"/>
                </a:solidFill>
                <a:effectLst/>
              </a:rPr>
              <a:t>Hemoglobin</a:t>
            </a:r>
            <a:r>
              <a:rPr lang="en-GB" sz="2600" b="1" i="0" dirty="0">
                <a:solidFill>
                  <a:schemeClr val="tx1"/>
                </a:solidFill>
                <a:effectLst/>
              </a:rPr>
              <a:t> Switch — Mechanism and Therapy</a:t>
            </a:r>
            <a:endParaRPr lang="en-US" sz="2600" b="1" dirty="0">
              <a:solidFill>
                <a:schemeClr val="tx1"/>
              </a:solidFill>
            </a:endParaRPr>
          </a:p>
        </p:txBody>
      </p:sp>
      <p:pic>
        <p:nvPicPr>
          <p:cNvPr id="3074" name="Picture 2" descr="A figure showing hemoglobin switching">
            <a:extLst>
              <a:ext uri="{FF2B5EF4-FFF2-40B4-BE49-F238E27FC236}">
                <a16:creationId xmlns:a16="http://schemas.microsoft.com/office/drawing/2014/main" id="{01F4F47B-A788-078E-D6B9-00754722D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345" y="807524"/>
            <a:ext cx="5932517" cy="593251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B5F3A6-3AF4-D9BB-DD36-6C900EA4AA77}"/>
              </a:ext>
            </a:extLst>
          </p:cNvPr>
          <p:cNvSpPr txBox="1"/>
          <p:nvPr/>
        </p:nvSpPr>
        <p:spPr>
          <a:xfrm>
            <a:off x="9570720" y="6432264"/>
            <a:ext cx="2510444" cy="307777"/>
          </a:xfrm>
          <a:prstGeom prst="rect">
            <a:avLst/>
          </a:prstGeom>
          <a:noFill/>
        </p:spPr>
        <p:txBody>
          <a:bodyPr wrap="square">
            <a:spAutoFit/>
          </a:bodyPr>
          <a:lstStyle/>
          <a:p>
            <a:r>
              <a:rPr lang="en-US" sz="1400" b="1" i="0" dirty="0">
                <a:effectLst/>
                <a:latin typeface="Calibri Light" panose="020F0302020204030204" pitchFamily="34" charset="0"/>
              </a:rPr>
              <a:t>DOI: 10.1056/NEJMra2405260</a:t>
            </a:r>
            <a:endParaRPr lang="en-US" sz="1400" dirty="0">
              <a:latin typeface="Calibri Light" panose="020F0302020204030204" pitchFamily="34" charset="0"/>
            </a:endParaRPr>
          </a:p>
        </p:txBody>
      </p:sp>
      <p:sp>
        <p:nvSpPr>
          <p:cNvPr id="5" name="TextBox 4">
            <a:extLst>
              <a:ext uri="{FF2B5EF4-FFF2-40B4-BE49-F238E27FC236}">
                <a16:creationId xmlns:a16="http://schemas.microsoft.com/office/drawing/2014/main" id="{2D0358B7-966B-8A1C-CD43-5C2E1DFEE06F}"/>
              </a:ext>
            </a:extLst>
          </p:cNvPr>
          <p:cNvSpPr txBox="1"/>
          <p:nvPr/>
        </p:nvSpPr>
        <p:spPr>
          <a:xfrm>
            <a:off x="7442661" y="3237407"/>
            <a:ext cx="3884815" cy="369332"/>
          </a:xfrm>
          <a:prstGeom prst="rect">
            <a:avLst/>
          </a:prstGeom>
          <a:noFill/>
        </p:spPr>
        <p:txBody>
          <a:bodyPr wrap="square">
            <a:spAutoFit/>
          </a:bodyPr>
          <a:lstStyle/>
          <a:p>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L</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ocus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C</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ontrol </a:t>
            </a:r>
            <a:r>
              <a:rPr lang="en-US" dirty="0">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R</a:t>
            </a:r>
            <a:r>
              <a:rPr lang="en-US" b="0" i="0" dirty="0">
                <a:effectLst/>
                <a:latin typeface="ElsevierGulliver"/>
                <a:hlinkClick r:id="rId3" tooltip="Learn more about locus control region from ScienceDirect's AI-generated Topic Pages">
                  <a:extLst>
                    <a:ext uri="{A12FA001-AC4F-418D-AE19-62706E023703}">
                      <ahyp:hlinkClr xmlns:ahyp="http://schemas.microsoft.com/office/drawing/2018/hyperlinkcolor" val="tx"/>
                    </a:ext>
                  </a:extLst>
                </a:hlinkClick>
              </a:rPr>
              <a:t>egion</a:t>
            </a:r>
            <a:r>
              <a:rPr lang="en-US" b="0" i="0" dirty="0">
                <a:effectLst/>
                <a:latin typeface="ElsevierGulliver"/>
              </a:rPr>
              <a:t> (LCR) </a:t>
            </a:r>
            <a:endParaRPr lang="en-US" dirty="0"/>
          </a:p>
        </p:txBody>
      </p:sp>
    </p:spTree>
    <p:extLst>
      <p:ext uri="{BB962C8B-B14F-4D97-AF65-F5344CB8AC3E}">
        <p14:creationId xmlns:p14="http://schemas.microsoft.com/office/powerpoint/2010/main" val="925546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600" b="1" i="0" dirty="0">
                <a:solidFill>
                  <a:schemeClr val="tx1"/>
                </a:solidFill>
                <a:effectLst/>
              </a:rPr>
              <a:t>Epigenetic Mechanisms in Gene Regulation</a:t>
            </a:r>
            <a:endParaRPr lang="en-US" sz="26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79367" y="6193964"/>
            <a:ext cx="11382895" cy="523220"/>
          </a:xfrm>
          <a:prstGeom prst="rect">
            <a:avLst/>
          </a:prstGeom>
          <a:noFill/>
        </p:spPr>
        <p:txBody>
          <a:bodyPr wrap="square">
            <a:spAutoFit/>
          </a:bodyPr>
          <a:lstStyle/>
          <a:p>
            <a:r>
              <a:rPr lang="en-GB" sz="1400" b="0" i="0" dirty="0">
                <a:effectLst/>
                <a:latin typeface="Calibri Light" panose="020F0302020204030204" pitchFamily="34" charset="0"/>
              </a:rPr>
              <a:t>Zhang, J.; Sheng, H.; Hu, C.; Li, F.; Cai, B.; Ma, Y.; Wang, Y.; Ma, Y. Effects of DNA Methylation on Gene Expression and Phenotypic Traits in Cattle: A Review. Int. J. Mol. Sci. 2023, 24, 11882.</a:t>
            </a:r>
            <a:endParaRPr lang="en-US" sz="1400" dirty="0">
              <a:latin typeface="Calibri Light" panose="020F0302020204030204" pitchFamily="34" charset="0"/>
            </a:endParaRPr>
          </a:p>
        </p:txBody>
      </p:sp>
      <p:pic>
        <p:nvPicPr>
          <p:cNvPr id="4098" name="Picture 2" descr="May be an image of text">
            <a:extLst>
              <a:ext uri="{FF2B5EF4-FFF2-40B4-BE49-F238E27FC236}">
                <a16:creationId xmlns:a16="http://schemas.microsoft.com/office/drawing/2014/main" id="{68BB26AA-1C76-9DF5-1320-3E8EF2F9B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20" y="964125"/>
            <a:ext cx="8684303" cy="500816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7776FB2-F766-B6D8-5EA7-6652A1EDD78B}"/>
              </a:ext>
            </a:extLst>
          </p:cNvPr>
          <p:cNvSpPr/>
          <p:nvPr/>
        </p:nvSpPr>
        <p:spPr>
          <a:xfrm rot="7701596">
            <a:off x="2144684" y="3153290"/>
            <a:ext cx="2089265"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E3A111B-A2CC-DD28-932B-553DD9EAA266}"/>
              </a:ext>
            </a:extLst>
          </p:cNvPr>
          <p:cNvSpPr/>
          <p:nvPr/>
        </p:nvSpPr>
        <p:spPr>
          <a:xfrm rot="3342316">
            <a:off x="6734023" y="3594729"/>
            <a:ext cx="1633303"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E3E900A-504D-2ABE-012F-86039A628B34}"/>
              </a:ext>
            </a:extLst>
          </p:cNvPr>
          <p:cNvSpPr/>
          <p:nvPr/>
        </p:nvSpPr>
        <p:spPr>
          <a:xfrm rot="10800000">
            <a:off x="4674368" y="4601950"/>
            <a:ext cx="1468969" cy="426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A462C6F-541D-3FC2-A912-DD9A78CE1058}"/>
              </a:ext>
            </a:extLst>
          </p:cNvPr>
          <p:cNvSpPr/>
          <p:nvPr/>
        </p:nvSpPr>
        <p:spPr>
          <a:xfrm>
            <a:off x="8916785" y="1850967"/>
            <a:ext cx="642851" cy="22721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84136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C022-10D7-2CC3-C5B3-09EDAAFE6B0C}"/>
              </a:ext>
            </a:extLst>
          </p:cNvPr>
          <p:cNvSpPr>
            <a:spLocks noGrp="1"/>
          </p:cNvSpPr>
          <p:nvPr>
            <p:ph type="title"/>
          </p:nvPr>
        </p:nvSpPr>
        <p:spPr>
          <a:xfrm>
            <a:off x="329738" y="232121"/>
            <a:ext cx="11532524" cy="371937"/>
          </a:xfrm>
        </p:spPr>
        <p:txBody>
          <a:bodyPr>
            <a:noAutofit/>
          </a:bodyPr>
          <a:lstStyle/>
          <a:p>
            <a:pPr algn="ctr"/>
            <a:r>
              <a:rPr lang="en-GB" sz="2600" b="1" i="0" dirty="0">
                <a:solidFill>
                  <a:schemeClr val="tx1"/>
                </a:solidFill>
                <a:effectLst/>
              </a:rPr>
              <a:t>Epigenetic Mechanisms in Gene Regulation</a:t>
            </a:r>
            <a:endParaRPr lang="en-US" sz="2600" b="1" dirty="0">
              <a:solidFill>
                <a:schemeClr val="tx1"/>
              </a:solidFill>
            </a:endParaRPr>
          </a:p>
        </p:txBody>
      </p:sp>
      <p:sp>
        <p:nvSpPr>
          <p:cNvPr id="4" name="TextBox 3">
            <a:extLst>
              <a:ext uri="{FF2B5EF4-FFF2-40B4-BE49-F238E27FC236}">
                <a16:creationId xmlns:a16="http://schemas.microsoft.com/office/drawing/2014/main" id="{22B5F3A6-3AF4-D9BB-DD36-6C900EA4AA77}"/>
              </a:ext>
            </a:extLst>
          </p:cNvPr>
          <p:cNvSpPr txBox="1"/>
          <p:nvPr/>
        </p:nvSpPr>
        <p:spPr>
          <a:xfrm>
            <a:off x="479367" y="6193964"/>
            <a:ext cx="11382895" cy="523220"/>
          </a:xfrm>
          <a:prstGeom prst="rect">
            <a:avLst/>
          </a:prstGeom>
          <a:noFill/>
        </p:spPr>
        <p:txBody>
          <a:bodyPr wrap="square">
            <a:spAutoFit/>
          </a:bodyPr>
          <a:lstStyle/>
          <a:p>
            <a:r>
              <a:rPr lang="en-GB" sz="1400" b="0" i="0" dirty="0">
                <a:effectLst/>
                <a:latin typeface="Calibri Light" panose="020F0302020204030204" pitchFamily="34" charset="0"/>
              </a:rPr>
              <a:t>Zhang, J.; Sheng, H.; Hu, C.; Li, F.; Cai, B.; Ma, Y.; Wang, Y.; Ma, Y. Effects of DNA Methylation on Gene Expression and Phenotypic Traits in Cattle: A Review. Int. J. Mol. Sci. 2023, 24, 11882.</a:t>
            </a:r>
            <a:endParaRPr lang="en-US" sz="1400" dirty="0">
              <a:latin typeface="Calibri Light" panose="020F0302020204030204" pitchFamily="34" charset="0"/>
            </a:endParaRPr>
          </a:p>
        </p:txBody>
      </p:sp>
      <p:pic>
        <p:nvPicPr>
          <p:cNvPr id="4098" name="Picture 2" descr="May be an image of text">
            <a:extLst>
              <a:ext uri="{FF2B5EF4-FFF2-40B4-BE49-F238E27FC236}">
                <a16:creationId xmlns:a16="http://schemas.microsoft.com/office/drawing/2014/main" id="{68BB26AA-1C76-9DF5-1320-3E8EF2F9B1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9020" y="964125"/>
            <a:ext cx="8684303" cy="5008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113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49AFA-35A2-EE9A-0E31-66D654DCEDC1}"/>
              </a:ext>
            </a:extLst>
          </p:cNvPr>
          <p:cNvSpPr>
            <a:spLocks noGrp="1"/>
          </p:cNvSpPr>
          <p:nvPr>
            <p:ph type="title"/>
          </p:nvPr>
        </p:nvSpPr>
        <p:spPr>
          <a:xfrm>
            <a:off x="710738" y="1357111"/>
            <a:ext cx="10515600" cy="1325563"/>
          </a:xfrm>
        </p:spPr>
        <p:txBody>
          <a:bodyPr/>
          <a:lstStyle/>
          <a:p>
            <a:pPr algn="ctr"/>
            <a:r>
              <a:rPr lang="en-GB" sz="6600" b="1" dirty="0"/>
              <a:t>Thank you for your time!</a:t>
            </a:r>
            <a:endParaRPr lang="en-US" sz="6600" b="1" dirty="0"/>
          </a:p>
        </p:txBody>
      </p:sp>
      <p:sp>
        <p:nvSpPr>
          <p:cNvPr id="3" name="Subtitle 2">
            <a:extLst>
              <a:ext uri="{FF2B5EF4-FFF2-40B4-BE49-F238E27FC236}">
                <a16:creationId xmlns:a16="http://schemas.microsoft.com/office/drawing/2014/main" id="{EDD5678A-CAF3-6B39-E388-B72C0DA69855}"/>
              </a:ext>
            </a:extLst>
          </p:cNvPr>
          <p:cNvSpPr txBox="1">
            <a:spLocks/>
          </p:cNvSpPr>
          <p:nvPr/>
        </p:nvSpPr>
        <p:spPr>
          <a:xfrm>
            <a:off x="1352204" y="3087890"/>
            <a:ext cx="9144000" cy="16557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Calibri Light" panose="020F0302020204030204" pitchFamily="34" charset="0"/>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Calibri Light" panose="020F0302020204030204" pitchFamily="34" charset="0"/>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Calibri Light" panose="020F0302020204030204" pitchFamily="34" charset="0"/>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Calibri Light" panose="020F0302020204030204" pitchFamily="34" charset="0"/>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ctr">
              <a:buNone/>
            </a:pPr>
            <a:r>
              <a:rPr lang="en-GB" dirty="0"/>
              <a:t>Phuc-Loi Luu, PhD</a:t>
            </a:r>
          </a:p>
          <a:p>
            <a:pPr marL="0" indent="0" algn="ctr">
              <a:buNone/>
            </a:pPr>
            <a:r>
              <a:rPr lang="en-GB" dirty="0"/>
              <a:t>Email: </a:t>
            </a:r>
            <a:r>
              <a:rPr lang="en-GB" dirty="0">
                <a:hlinkClick r:id="rId2"/>
              </a:rPr>
              <a:t>luu.p.loi@googlemail.com</a:t>
            </a:r>
            <a:endParaRPr lang="en-GB" dirty="0"/>
          </a:p>
          <a:p>
            <a:pPr marL="0" indent="0" algn="ctr">
              <a:buNone/>
            </a:pPr>
            <a:r>
              <a:rPr lang="en-GB" dirty="0" err="1"/>
              <a:t>Zalo</a:t>
            </a:r>
            <a:r>
              <a:rPr lang="en-GB" dirty="0"/>
              <a:t>: 0901802182</a:t>
            </a:r>
            <a:endParaRPr lang="en-US" dirty="0"/>
          </a:p>
        </p:txBody>
      </p:sp>
    </p:spTree>
    <p:extLst>
      <p:ext uri="{BB962C8B-B14F-4D97-AF65-F5344CB8AC3E}">
        <p14:creationId xmlns:p14="http://schemas.microsoft.com/office/powerpoint/2010/main" val="37998128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320</TotalTime>
  <Words>1278</Words>
  <Application>Microsoft Office PowerPoint</Application>
  <PresentationFormat>Widescreen</PresentationFormat>
  <Paragraphs>248</Paragraphs>
  <Slides>23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Calibri Light</vt:lpstr>
      <vt:lpstr>Century Gothic</vt:lpstr>
      <vt:lpstr>ElsevierGulliver</vt:lpstr>
      <vt:lpstr>Wingdings</vt:lpstr>
      <vt:lpstr>Wingdings 3</vt:lpstr>
      <vt:lpstr>Ion</vt:lpstr>
      <vt:lpstr>Cancer Epigenetics Oral Midterm Exam I Module I: Fundamentals of Epigenetics</vt:lpstr>
      <vt:lpstr>Content</vt:lpstr>
      <vt:lpstr>Background Concepts</vt:lpstr>
      <vt:lpstr>PowerPoint Presentation</vt:lpstr>
      <vt:lpstr>PowerPoint Presentation</vt:lpstr>
      <vt:lpstr>The Outcome of Gene Expression</vt:lpstr>
      <vt:lpstr>The Outcome of Gene Expression</vt:lpstr>
      <vt:lpstr>Gene expression is triggered by a signal from the cell environment</vt:lpstr>
      <vt:lpstr>Gene expression is triggered by a signal from the cell environment</vt:lpstr>
      <vt:lpstr>The Histone Octamer Core</vt:lpstr>
      <vt:lpstr>The Histone Octamer Core</vt:lpstr>
      <vt:lpstr>Chromatin in Interphase</vt:lpstr>
      <vt:lpstr>Chromatin in Interphase</vt:lpstr>
      <vt:lpstr>Nuclear Periphery and Silencing</vt:lpstr>
      <vt:lpstr>Nuclear Periphery and Silencing</vt:lpstr>
      <vt:lpstr>Interpretation</vt:lpstr>
      <vt:lpstr>In mice, a lack of maternal iron impairs an iron-dependent enzyme that activates the male sex-determining gene, causing some XY embryos to develop ovaries</vt:lpstr>
      <vt:lpstr>Gut microbiota-derived short-chain fatty acids and their role in human health and disease</vt:lpstr>
      <vt:lpstr>The Fetal-to-Adult Hemoglobin Switch — Mechanism and Therapy</vt:lpstr>
      <vt:lpstr>The Fetal-to-Adult Hemoglobin Switch — Mechanism and Therapy</vt:lpstr>
      <vt:lpstr>Epigenetic Mechanisms in Gene Regulation</vt:lpstr>
      <vt:lpstr>Epigenetic Mechanisms in Gene Regulation</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Epigenetics 2025 Oral Exam: 7 June 2025</dc:title>
  <dc:creator>Luu Loi</dc:creator>
  <cp:lastModifiedBy>Luu Loi</cp:lastModifiedBy>
  <cp:revision>64</cp:revision>
  <dcterms:created xsi:type="dcterms:W3CDTF">2025-06-06T22:56:45Z</dcterms:created>
  <dcterms:modified xsi:type="dcterms:W3CDTF">2026-05-31T00:34:16Z</dcterms:modified>
</cp:coreProperties>
</file>